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D558B"/>
          </a:solidFill>
          <a:ln w="12700">
            <a:solidFill>
              <a:srgbClr val="0D558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51ADED"/>
          </a:solidFill>
          <a:ln w="12700">
            <a:solidFill>
              <a:srgbClr val="51AD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228600"/>
            <a:ext cx="1463040" cy="411480"/>
          </a:xfrm>
          <a:prstGeom prst="rect">
            <a:avLst/>
          </a:prstGeom>
          <a:solidFill>
            <a:srgbClr val="51ADED"/>
          </a:solidFill>
          <a:ln w="12700">
            <a:solidFill>
              <a:srgbClr val="51AD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2286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558B"/>
                </a:solidFill>
              </a:rPr>
              <a:t>SLIDE 01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011680" y="13716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The Healthcare Workforce Crisis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961120" y="2286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51ADED"/>
                </a:solidFill>
              </a:rPr>
              <a:t>Challenge · Solution · Business Impact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28600" y="1005840"/>
            <a:ext cx="3749040" cy="347472"/>
          </a:xfrm>
          <a:prstGeom prst="rect">
            <a:avLst/>
          </a:prstGeom>
          <a:solidFill>
            <a:srgbClr val="1171B9"/>
          </a:solidFill>
          <a:ln w="12700">
            <a:solidFill>
              <a:srgbClr val="1171B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100584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</a:rPr>
              <a:t>THE CHALLENGE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51960" y="1005840"/>
            <a:ext cx="3977640" cy="347472"/>
          </a:xfrm>
          <a:prstGeom prst="rect">
            <a:avLst/>
          </a:prstGeom>
          <a:solidFill>
            <a:srgbClr val="0D558B"/>
          </a:solidFill>
          <a:ln w="12700">
            <a:solidFill>
              <a:srgbClr val="0D55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51960" y="100584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</a:rPr>
              <a:t>THE AGENTIC SOLUTION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503920" y="1005840"/>
            <a:ext cx="3429000" cy="347472"/>
          </a:xfrm>
          <a:prstGeom prst="rect">
            <a:avLst/>
          </a:prstGeom>
          <a:solidFill>
            <a:srgbClr val="0A3F6A"/>
          </a:solidFill>
          <a:ln w="12700">
            <a:solidFill>
              <a:srgbClr val="0A3F6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0" y="100584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</a:rPr>
              <a:t>BUSINESS IMPACT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60520" y="1005840"/>
            <a:ext cx="0" cy="5577840"/>
          </a:xfrm>
          <a:prstGeom prst="line">
            <a:avLst/>
          </a:prstGeom>
          <a:noFill/>
          <a:ln w="12700">
            <a:solidFill>
              <a:srgbClr val="BBCCDD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8412480" y="1005840"/>
            <a:ext cx="0" cy="5577840"/>
          </a:xfrm>
          <a:prstGeom prst="line">
            <a:avLst/>
          </a:prstGeom>
          <a:noFill/>
          <a:ln w="12700">
            <a:solidFill>
              <a:srgbClr val="BBCCDD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228600" y="1444752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</a:rPr>
              <a:t>Hospitals systematically overload staff without coordination or foresight — silently eroding care quality and financial performance.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28600" y="2057400"/>
            <a:ext cx="37490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BBCF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28600" y="2057400"/>
            <a:ext cx="54864" cy="1097280"/>
          </a:xfrm>
          <a:prstGeom prst="rect">
            <a:avLst/>
          </a:prstGeom>
          <a:solidFill>
            <a:srgbClr val="1171B9"/>
          </a:solidFill>
          <a:ln w="12700">
            <a:solidFill>
              <a:srgbClr val="1171B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4904" y="2167128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558B"/>
                </a:solidFill>
              </a:rPr>
              <a:t>Administrative Overload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74904" y="2459736"/>
            <a:ext cx="35478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</a:rPr>
              <a:t>Clinicians spend 35–40% of each shift on documentation rather than direct patient care — an estimated 6 hrs/day lost per nurse.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28600" y="3246120"/>
            <a:ext cx="37490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BBCF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28600" y="3246120"/>
            <a:ext cx="54864" cy="1097280"/>
          </a:xfrm>
          <a:prstGeom prst="rect">
            <a:avLst/>
          </a:prstGeom>
          <a:solidFill>
            <a:srgbClr val="1171B9"/>
          </a:solidFill>
          <a:ln w="12700">
            <a:solidFill>
              <a:srgbClr val="1171B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4904" y="3355848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558B"/>
                </a:solidFill>
              </a:rPr>
              <a:t>Uneven Workload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74904" y="3648456"/>
            <a:ext cx="35478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</a:rPr>
              <a:t>No real-time visibility into fatigue or load distribution creates chronic inequity, compounding stress across units.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28600" y="4434840"/>
            <a:ext cx="37490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BBCF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28600" y="4434840"/>
            <a:ext cx="54864" cy="1097280"/>
          </a:xfrm>
          <a:prstGeom prst="rect">
            <a:avLst/>
          </a:prstGeom>
          <a:solidFill>
            <a:srgbClr val="1171B9"/>
          </a:solidFill>
          <a:ln w="12700">
            <a:solidFill>
              <a:srgbClr val="1171B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4904" y="4544568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558B"/>
                </a:solidFill>
              </a:rPr>
              <a:t>Reactive Staffing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74904" y="4837176"/>
            <a:ext cx="35478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</a:rPr>
              <a:t>Gaps are filled after burnout peaks. Agency escalation costs 3–4× base rate with no structural fix in sight.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28600" y="5623560"/>
            <a:ext cx="37490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BBCF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28600" y="5623560"/>
            <a:ext cx="54864" cy="1097280"/>
          </a:xfrm>
          <a:prstGeom prst="rect">
            <a:avLst/>
          </a:prstGeom>
          <a:solidFill>
            <a:srgbClr val="1171B9"/>
          </a:solidFill>
          <a:ln w="12700">
            <a:solidFill>
              <a:srgbClr val="1171B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74904" y="5733288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558B"/>
                </a:solidFill>
              </a:rPr>
              <a:t>Fragmented Systems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74904" y="6025896"/>
            <a:ext cx="35478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</a:rPr>
              <a:t>EHRs, scheduling tools, and staffing platforms operate in silos — generating data nobody acts on in time.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251960" y="1444752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</a:rPr>
              <a:t>An operational intelligence layer that continuously detects burnout, identifies root causes, and executes corrective actions — without manual intervention.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389120" y="2057400"/>
            <a:ext cx="3703320" cy="822960"/>
          </a:xfrm>
          <a:prstGeom prst="rect">
            <a:avLst/>
          </a:prstGeom>
          <a:solidFill>
            <a:srgbClr val="1171B9"/>
          </a:solidFill>
          <a:ln w="25400">
            <a:solidFill>
              <a:srgbClr val="51AD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389120" y="2057400"/>
            <a:ext cx="37033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🏥  AGENTIC WORKFORCE PLATFORM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389120" y="2468880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1ADED"/>
                </a:solidFill>
              </a:rPr>
              <a:t>Detect  →  Diagnose  →  Execute  →  Monitor  →  Learn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251960" y="2999232"/>
            <a:ext cx="39776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BBCF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251960" y="2999232"/>
            <a:ext cx="3977640" cy="301752"/>
          </a:xfrm>
          <a:prstGeom prst="rect">
            <a:avLst/>
          </a:prstGeom>
          <a:solidFill>
            <a:srgbClr val="1A6FA8"/>
          </a:solidFill>
          <a:ln w="12700">
            <a:solidFill>
              <a:srgbClr val="1A6FA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361688" y="3026664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Nurse Agents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361688" y="3346704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</a:rPr>
              <a:t>Smart Documentation  ·  Shift Handoff  ·  Prior Auth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251960" y="3895344"/>
            <a:ext cx="39776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BBCF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251960" y="3895344"/>
            <a:ext cx="3977640" cy="301752"/>
          </a:xfrm>
          <a:prstGeom prst="rect">
            <a:avLst/>
          </a:prstGeom>
          <a:solidFill>
            <a:srgbClr val="1171B9"/>
          </a:solidFill>
          <a:ln w="12700">
            <a:solidFill>
              <a:srgbClr val="1171B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361688" y="3922776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Doctor Agents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361688" y="4242816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</a:rPr>
              <a:t>Assistive Diagnosis  ·  Clinical Referral  ·  Medication Assist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251960" y="4791456"/>
            <a:ext cx="39776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BBCF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251960" y="4791456"/>
            <a:ext cx="3977640" cy="301752"/>
          </a:xfrm>
          <a:prstGeom prst="rect">
            <a:avLst/>
          </a:prstGeom>
          <a:solidFill>
            <a:srgbClr val="0D558B"/>
          </a:solidFill>
          <a:ln w="12700">
            <a:solidFill>
              <a:srgbClr val="0D558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361688" y="4818888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Staffing Agents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361688" y="5138928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</a:rPr>
              <a:t>Float Allocation  ·  Surge Resolution  ·  Fatigue Monitor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4251960" y="5687568"/>
            <a:ext cx="39776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BBCF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4251960" y="5687568"/>
            <a:ext cx="3977640" cy="301752"/>
          </a:xfrm>
          <a:prstGeom prst="rect">
            <a:avLst/>
          </a:prstGeom>
          <a:solidFill>
            <a:srgbClr val="0A3F6A"/>
          </a:solidFill>
          <a:ln w="12700">
            <a:solidFill>
              <a:srgbClr val="0A3F6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361688" y="571500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Ops Agents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4361688" y="6035040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</a:rPr>
              <a:t>Capacity Optimization  ·  Demand-Supply Planning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8503920" y="1444752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</a:rPr>
              <a:t>Burnout reduction is not just a workforce initiative — it directly unlocks capacity, efficiency, and financial performance.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8503920" y="2057400"/>
            <a:ext cx="34290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BBCF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8503920" y="2057400"/>
            <a:ext cx="54864" cy="713232"/>
          </a:xfrm>
          <a:prstGeom prst="rect">
            <a:avLst/>
          </a:prstGeom>
          <a:solidFill>
            <a:srgbClr val="51ADED"/>
          </a:solidFill>
          <a:ln w="12700">
            <a:solidFill>
              <a:srgbClr val="51ADED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631936" y="2112264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71B9"/>
                </a:solidFill>
              </a:rPr>
              <a:t>30%</a:t>
            </a:r>
            <a:endParaRPr lang="en-US" sz="2200" dirty="0"/>
          </a:p>
        </p:txBody>
      </p:sp>
      <p:sp>
        <p:nvSpPr>
          <p:cNvPr id="57" name="Text 55"/>
          <p:cNvSpPr/>
          <p:nvPr/>
        </p:nvSpPr>
        <p:spPr>
          <a:xfrm>
            <a:off x="9509760" y="2112264"/>
            <a:ext cx="2350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558B"/>
                </a:solidFill>
              </a:rPr>
              <a:t>Reduction in Clinician Burnout Scores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9509760" y="2404872"/>
            <a:ext cx="2350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</a:rPr>
              <a:t>Via workload rebalancing &amp; admin relief (NEJM Catalyst, 2023)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8503920" y="2862072"/>
            <a:ext cx="34290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BBCF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8503920" y="2862072"/>
            <a:ext cx="54864" cy="713232"/>
          </a:xfrm>
          <a:prstGeom prst="rect">
            <a:avLst/>
          </a:prstGeom>
          <a:solidFill>
            <a:srgbClr val="51ADED"/>
          </a:solidFill>
          <a:ln w="12700">
            <a:solidFill>
              <a:srgbClr val="51ADE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631936" y="2916936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71B9"/>
                </a:solidFill>
              </a:rPr>
              <a:t>6 hrs</a:t>
            </a:r>
            <a:endParaRPr lang="en-US" sz="2200" dirty="0"/>
          </a:p>
        </p:txBody>
      </p:sp>
      <p:sp>
        <p:nvSpPr>
          <p:cNvPr id="62" name="Text 60"/>
          <p:cNvSpPr/>
          <p:nvPr/>
        </p:nvSpPr>
        <p:spPr>
          <a:xfrm>
            <a:off x="9509760" y="2916936"/>
            <a:ext cx="2350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558B"/>
                </a:solidFill>
              </a:rPr>
              <a:t>Saved Per Clinician / Week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9509760" y="3209544"/>
            <a:ext cx="2350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</a:rPr>
              <a:t>Documentation automation + handoff agents (AHA, 2022)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8503920" y="3666744"/>
            <a:ext cx="34290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BBCF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8503920" y="3666744"/>
            <a:ext cx="54864" cy="713232"/>
          </a:xfrm>
          <a:prstGeom prst="rect">
            <a:avLst/>
          </a:prstGeom>
          <a:solidFill>
            <a:srgbClr val="51ADED"/>
          </a:solidFill>
          <a:ln w="12700">
            <a:solidFill>
              <a:srgbClr val="51ADED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631936" y="3721608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71B9"/>
                </a:solidFill>
              </a:rPr>
              <a:t>20%</a:t>
            </a:r>
            <a:endParaRPr lang="en-US" sz="2200" dirty="0"/>
          </a:p>
        </p:txBody>
      </p:sp>
      <p:sp>
        <p:nvSpPr>
          <p:cNvPr id="67" name="Text 65"/>
          <p:cNvSpPr/>
          <p:nvPr/>
        </p:nvSpPr>
        <p:spPr>
          <a:xfrm>
            <a:off x="9509760" y="3721608"/>
            <a:ext cx="2350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558B"/>
                </a:solidFill>
              </a:rPr>
              <a:t>Reduction in Staff Turnover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9509760" y="4014216"/>
            <a:ext cx="2350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</a:rPr>
              <a:t>Saving ~$82K–$88K per nurse replaced (NSI, 2023)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8503920" y="4471416"/>
            <a:ext cx="34290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BBCF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8503920" y="4471416"/>
            <a:ext cx="54864" cy="713232"/>
          </a:xfrm>
          <a:prstGeom prst="rect">
            <a:avLst/>
          </a:prstGeom>
          <a:solidFill>
            <a:srgbClr val="51ADED"/>
          </a:solidFill>
          <a:ln w="12700">
            <a:solidFill>
              <a:srgbClr val="51ADED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8631936" y="452628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71B9"/>
                </a:solidFill>
              </a:rPr>
              <a:t>15%</a:t>
            </a:r>
            <a:endParaRPr lang="en-US" sz="2200" dirty="0"/>
          </a:p>
        </p:txBody>
      </p:sp>
      <p:sp>
        <p:nvSpPr>
          <p:cNvPr id="72" name="Text 70"/>
          <p:cNvSpPr/>
          <p:nvPr/>
        </p:nvSpPr>
        <p:spPr>
          <a:xfrm>
            <a:off x="9509760" y="4526280"/>
            <a:ext cx="2350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558B"/>
                </a:solidFill>
              </a:rPr>
              <a:t>Improvement in Bed Utilization</a:t>
            </a:r>
            <a:endParaRPr lang="en-US" sz="950" dirty="0"/>
          </a:p>
        </p:txBody>
      </p:sp>
      <p:sp>
        <p:nvSpPr>
          <p:cNvPr id="73" name="Text 71"/>
          <p:cNvSpPr/>
          <p:nvPr/>
        </p:nvSpPr>
        <p:spPr>
          <a:xfrm>
            <a:off x="9509760" y="4818888"/>
            <a:ext cx="2350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</a:rPr>
              <a:t>Via smarter load balancing &amp; capacity planning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8503920" y="5276088"/>
            <a:ext cx="34290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BBCF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75" name="Shape 73"/>
          <p:cNvSpPr/>
          <p:nvPr/>
        </p:nvSpPr>
        <p:spPr>
          <a:xfrm>
            <a:off x="8503920" y="5276088"/>
            <a:ext cx="54864" cy="713232"/>
          </a:xfrm>
          <a:prstGeom prst="rect">
            <a:avLst/>
          </a:prstGeom>
          <a:solidFill>
            <a:srgbClr val="51ADED"/>
          </a:solidFill>
          <a:ln w="12700">
            <a:solidFill>
              <a:srgbClr val="51ADED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8631936" y="5330952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71B9"/>
                </a:solidFill>
              </a:rPr>
              <a:t>25%</a:t>
            </a:r>
            <a:endParaRPr lang="en-US" sz="2200" dirty="0"/>
          </a:p>
        </p:txBody>
      </p:sp>
      <p:sp>
        <p:nvSpPr>
          <p:cNvPr id="77" name="Text 75"/>
          <p:cNvSpPr/>
          <p:nvPr/>
        </p:nvSpPr>
        <p:spPr>
          <a:xfrm>
            <a:off x="9509760" y="5330952"/>
            <a:ext cx="2350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558B"/>
                </a:solidFill>
              </a:rPr>
              <a:t>Reduction in Overtime &amp; Agency Cost</a:t>
            </a:r>
            <a:endParaRPr lang="en-US" sz="950" dirty="0"/>
          </a:p>
        </p:txBody>
      </p:sp>
      <p:sp>
        <p:nvSpPr>
          <p:cNvPr id="78" name="Text 76"/>
          <p:cNvSpPr/>
          <p:nvPr/>
        </p:nvSpPr>
        <p:spPr>
          <a:xfrm>
            <a:off x="9509760" y="5623560"/>
            <a:ext cx="2350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</a:rPr>
              <a:t>Proactive float optimization reduces escalation spend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D558B"/>
          </a:solidFill>
          <a:ln w="12700">
            <a:solidFill>
              <a:srgbClr val="0D558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51ADED"/>
          </a:solidFill>
          <a:ln w="12700">
            <a:solidFill>
              <a:srgbClr val="51AD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228600"/>
            <a:ext cx="1463040" cy="411480"/>
          </a:xfrm>
          <a:prstGeom prst="rect">
            <a:avLst/>
          </a:prstGeom>
          <a:solidFill>
            <a:srgbClr val="51ADED"/>
          </a:solidFill>
          <a:ln w="12700">
            <a:solidFill>
              <a:srgbClr val="51AD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2286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558B"/>
                </a:solidFill>
              </a:rPr>
              <a:t>SLIDE 02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011680" y="13716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Platform Solution Flow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961120" y="2286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51ADED"/>
                </a:solidFill>
              </a:rPr>
              <a:t>Data Inputs → AI Agents → Persona Outcomes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28600" y="1005840"/>
            <a:ext cx="2560320" cy="347472"/>
          </a:xfrm>
          <a:prstGeom prst="rect">
            <a:avLst/>
          </a:prstGeom>
          <a:solidFill>
            <a:srgbClr val="0D558B"/>
          </a:solidFill>
          <a:ln w="12700">
            <a:solidFill>
              <a:srgbClr val="0D558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10058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FFFFFF"/>
                </a:solidFill>
              </a:rPr>
              <a:t>DATA INPUTS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017520" y="1005840"/>
            <a:ext cx="2011680" cy="347472"/>
          </a:xfrm>
          <a:prstGeom prst="rect">
            <a:avLst/>
          </a:prstGeom>
          <a:solidFill>
            <a:srgbClr val="1A6FA8"/>
          </a:solidFill>
          <a:ln w="12700">
            <a:solidFill>
              <a:srgbClr val="1A6F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17520" y="10058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FFFFFF"/>
                </a:solidFill>
              </a:rPr>
              <a:t>NURSE AGENTS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212080" y="1005840"/>
            <a:ext cx="2011680" cy="347472"/>
          </a:xfrm>
          <a:prstGeom prst="rect">
            <a:avLst/>
          </a:prstGeom>
          <a:solidFill>
            <a:srgbClr val="1171B9"/>
          </a:solidFill>
          <a:ln w="12700">
            <a:solidFill>
              <a:srgbClr val="1171B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12080" y="10058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FFFFFF"/>
                </a:solidFill>
              </a:rPr>
              <a:t>DOCTOR AGENTS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406640" y="1005840"/>
            <a:ext cx="2103120" cy="347472"/>
          </a:xfrm>
          <a:prstGeom prst="rect">
            <a:avLst/>
          </a:prstGeom>
          <a:solidFill>
            <a:srgbClr val="0D558B"/>
          </a:solidFill>
          <a:ln w="12700">
            <a:solidFill>
              <a:srgbClr val="0D558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06640" y="100584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FFFFFF"/>
                </a:solidFill>
              </a:rPr>
              <a:t>STAFFING AGENTS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9692640" y="1005840"/>
            <a:ext cx="2240280" cy="347472"/>
          </a:xfrm>
          <a:prstGeom prst="rect">
            <a:avLst/>
          </a:prstGeom>
          <a:solidFill>
            <a:srgbClr val="0A3F6A"/>
          </a:solidFill>
          <a:ln w="12700">
            <a:solidFill>
              <a:srgbClr val="0A3F6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92640" y="1005840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FFFFFF"/>
                </a:solidFill>
              </a:rPr>
              <a:t>OPS AGENTS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28600" y="1463040"/>
            <a:ext cx="256032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BBCF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28600" y="1463040"/>
            <a:ext cx="54864" cy="758952"/>
          </a:xfrm>
          <a:prstGeom prst="rect">
            <a:avLst/>
          </a:prstGeom>
          <a:solidFill>
            <a:srgbClr val="51ADED"/>
          </a:solidFill>
          <a:ln w="12700">
            <a:solidFill>
              <a:srgbClr val="51AD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" y="151790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558B"/>
                </a:solidFill>
              </a:rPr>
              <a:t>📂  EHR &amp; Clinical Data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47472" y="179222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</a:rPr>
              <a:t>Patient records, diagnoses, medications, lab results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28600" y="2313432"/>
            <a:ext cx="256032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BBCF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28600" y="2313432"/>
            <a:ext cx="54864" cy="758952"/>
          </a:xfrm>
          <a:prstGeom prst="rect">
            <a:avLst/>
          </a:prstGeom>
          <a:solidFill>
            <a:srgbClr val="51ADED"/>
          </a:solidFill>
          <a:ln w="12700">
            <a:solidFill>
              <a:srgbClr val="51AD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" y="236829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558B"/>
                </a:solidFill>
              </a:rPr>
              <a:t>⏱  Shift &amp; Time Logs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47472" y="264261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</a:rPr>
              <a:t>Clock-ins, break patterns, overtime data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28600" y="3163824"/>
            <a:ext cx="256032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BBCF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28600" y="3163824"/>
            <a:ext cx="54864" cy="758952"/>
          </a:xfrm>
          <a:prstGeom prst="rect">
            <a:avLst/>
          </a:prstGeom>
          <a:solidFill>
            <a:srgbClr val="51ADED"/>
          </a:solidFill>
          <a:ln w="12700">
            <a:solidFill>
              <a:srgbClr val="51AD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" y="321868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558B"/>
                </a:solidFill>
              </a:rPr>
              <a:t>📊  Workload Metrics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47472" y="349300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</a:rPr>
              <a:t>Patient load, task queue, assignment logs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28600" y="4014216"/>
            <a:ext cx="256032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BBCF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28600" y="4014216"/>
            <a:ext cx="54864" cy="758952"/>
          </a:xfrm>
          <a:prstGeom prst="rect">
            <a:avLst/>
          </a:prstGeom>
          <a:solidFill>
            <a:srgbClr val="51ADED"/>
          </a:solidFill>
          <a:ln w="12700">
            <a:solidFill>
              <a:srgbClr val="51AD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7472" y="406908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558B"/>
                </a:solidFill>
              </a:rPr>
              <a:t>🔔  After-Hours Activity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47472" y="43434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</a:rPr>
              <a:t>Documentation outside shift hours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28600" y="4864608"/>
            <a:ext cx="256032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BBCF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28600" y="4864608"/>
            <a:ext cx="54864" cy="758952"/>
          </a:xfrm>
          <a:prstGeom prst="rect">
            <a:avLst/>
          </a:prstGeom>
          <a:solidFill>
            <a:srgbClr val="51ADED"/>
          </a:solidFill>
          <a:ln w="12700">
            <a:solidFill>
              <a:srgbClr val="51ADE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7472" y="491947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558B"/>
                </a:solidFill>
              </a:rPr>
              <a:t>📋  Documentation Volume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347472" y="519379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</a:rPr>
              <a:t>Charting time, note frequency, complexity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228600" y="5715000"/>
            <a:ext cx="256032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BBCF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228600" y="5715000"/>
            <a:ext cx="54864" cy="758952"/>
          </a:xfrm>
          <a:prstGeom prst="rect">
            <a:avLst/>
          </a:prstGeom>
          <a:solidFill>
            <a:srgbClr val="51ADED"/>
          </a:solidFill>
          <a:ln w="12700">
            <a:solidFill>
              <a:srgbClr val="51ADE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7472" y="576986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558B"/>
                </a:solidFill>
              </a:rPr>
              <a:t>🏥  Staffing &amp; Float Data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347472" y="604418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</a:rPr>
              <a:t>Availability, certifications, agency usage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3017520" y="1463040"/>
            <a:ext cx="201168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BBCF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3017520" y="1463040"/>
            <a:ext cx="2011680" cy="292608"/>
          </a:xfrm>
          <a:prstGeom prst="rect">
            <a:avLst/>
          </a:prstGeom>
          <a:solidFill>
            <a:srgbClr val="1A6FA8"/>
          </a:solidFill>
          <a:ln w="12700">
            <a:solidFill>
              <a:srgbClr val="1A6FA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063240" y="149047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Smart Documentation Agent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3063240" y="1792224"/>
            <a:ext cx="1920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</a:rPr>
              <a:t>Auto-generates SOAP notes from patient context, integrating directly with EHR workflows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3017520" y="2651760"/>
            <a:ext cx="2011680" cy="347472"/>
          </a:xfrm>
          <a:prstGeom prst="rect">
            <a:avLst/>
          </a:prstGeom>
          <a:solidFill>
            <a:srgbClr val="E8F4FF"/>
          </a:solidFill>
          <a:ln w="12700">
            <a:solidFill>
              <a:srgbClr val="BBCFE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035808" y="265176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6FA8"/>
                </a:solidFill>
              </a:rPr>
              <a:t>✓  ↓ 40% charting time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3017520" y="3136392"/>
            <a:ext cx="201168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BBCF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3017520" y="3136392"/>
            <a:ext cx="2011680" cy="292608"/>
          </a:xfrm>
          <a:prstGeom prst="rect">
            <a:avLst/>
          </a:prstGeom>
          <a:solidFill>
            <a:srgbClr val="1A6FA8"/>
          </a:solidFill>
          <a:ln w="12700">
            <a:solidFill>
              <a:srgbClr val="1A6FA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063240" y="316382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Shift Handoff Agent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3063240" y="3465576"/>
            <a:ext cx="1920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</a:rPr>
              <a:t>Creates structured handoff summaries with critical changes &amp; pending tasks highlighted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3017520" y="4325112"/>
            <a:ext cx="2011680" cy="347472"/>
          </a:xfrm>
          <a:prstGeom prst="rect">
            <a:avLst/>
          </a:prstGeom>
          <a:solidFill>
            <a:srgbClr val="E8F4FF"/>
          </a:solidFill>
          <a:ln w="12700">
            <a:solidFill>
              <a:srgbClr val="BBCFE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035808" y="432511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6FA8"/>
                </a:solidFill>
              </a:rPr>
              <a:t>✓  ↓ Cognitive load at handoff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3017520" y="4809744"/>
            <a:ext cx="201168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BBCF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3017520" y="4809744"/>
            <a:ext cx="2011680" cy="292608"/>
          </a:xfrm>
          <a:prstGeom prst="rect">
            <a:avLst/>
          </a:prstGeom>
          <a:solidFill>
            <a:srgbClr val="1A6FA8"/>
          </a:solidFill>
          <a:ln w="12700">
            <a:solidFill>
              <a:srgbClr val="1A6FA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063240" y="483717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Prior Authorization Agent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3063240" y="5138928"/>
            <a:ext cx="1920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</a:rPr>
              <a:t>Auto-creates prior auth requests using patient history, diagnosis &amp; insurance data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3017520" y="5998464"/>
            <a:ext cx="2011680" cy="347472"/>
          </a:xfrm>
          <a:prstGeom prst="rect">
            <a:avLst/>
          </a:prstGeom>
          <a:solidFill>
            <a:srgbClr val="E8F4FF"/>
          </a:solidFill>
          <a:ln w="12700">
            <a:solidFill>
              <a:srgbClr val="BBCFE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035808" y="5998464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6FA8"/>
                </a:solidFill>
              </a:rPr>
              <a:t>✓  ↓ 80% admin effort on auth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5212080" y="1463040"/>
            <a:ext cx="201168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BBCF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5212080" y="1463040"/>
            <a:ext cx="2011680" cy="292608"/>
          </a:xfrm>
          <a:prstGeom prst="rect">
            <a:avLst/>
          </a:prstGeom>
          <a:solidFill>
            <a:srgbClr val="1171B9"/>
          </a:solidFill>
          <a:ln w="12700">
            <a:solidFill>
              <a:srgbClr val="1171B9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257800" y="149047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Assistive Diagnosis Agent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5257800" y="1792224"/>
            <a:ext cx="1920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</a:rPr>
              <a:t>Surfaces relevant clinical insights from patient data for faster, more confident decisions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5212080" y="2651760"/>
            <a:ext cx="2011680" cy="347472"/>
          </a:xfrm>
          <a:prstGeom prst="rect">
            <a:avLst/>
          </a:prstGeom>
          <a:solidFill>
            <a:srgbClr val="E8F4FF"/>
          </a:solidFill>
          <a:ln w="12700">
            <a:solidFill>
              <a:srgbClr val="BBCFE8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230368" y="265176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71B9"/>
                </a:solidFill>
              </a:rPr>
              <a:t>✓  20% faster decisions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5212080" y="3136392"/>
            <a:ext cx="201168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BBCF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67" name="Shape 65"/>
          <p:cNvSpPr/>
          <p:nvPr/>
        </p:nvSpPr>
        <p:spPr>
          <a:xfrm>
            <a:off x="5212080" y="3136392"/>
            <a:ext cx="2011680" cy="292608"/>
          </a:xfrm>
          <a:prstGeom prst="rect">
            <a:avLst/>
          </a:prstGeom>
          <a:solidFill>
            <a:srgbClr val="1171B9"/>
          </a:solidFill>
          <a:ln w="12700">
            <a:solidFill>
              <a:srgbClr val="1171B9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257800" y="316382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Clinical Referral Agent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5257800" y="3465576"/>
            <a:ext cx="1920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</a:rPr>
              <a:t>Recommends next steps and specialist referrals, reducing coordination overhead for physicians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5212080" y="4325112"/>
            <a:ext cx="2011680" cy="347472"/>
          </a:xfrm>
          <a:prstGeom prst="rect">
            <a:avLst/>
          </a:prstGeom>
          <a:solidFill>
            <a:srgbClr val="E8F4FF"/>
          </a:solidFill>
          <a:ln w="12700">
            <a:solidFill>
              <a:srgbClr val="BBCFE8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230368" y="432511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71B9"/>
                </a:solidFill>
              </a:rPr>
              <a:t>✓  ↓ Coordination burden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5212080" y="4809744"/>
            <a:ext cx="201168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BBCF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73" name="Shape 71"/>
          <p:cNvSpPr/>
          <p:nvPr/>
        </p:nvSpPr>
        <p:spPr>
          <a:xfrm>
            <a:off x="5212080" y="4809744"/>
            <a:ext cx="2011680" cy="292608"/>
          </a:xfrm>
          <a:prstGeom prst="rect">
            <a:avLst/>
          </a:prstGeom>
          <a:solidFill>
            <a:srgbClr val="1171B9"/>
          </a:solidFill>
          <a:ln w="12700">
            <a:solidFill>
              <a:srgbClr val="1171B9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257800" y="483717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Medication Assist Agent</a:t>
            </a:r>
            <a:endParaRPr lang="en-US" sz="850" dirty="0"/>
          </a:p>
        </p:txBody>
      </p:sp>
      <p:sp>
        <p:nvSpPr>
          <p:cNvPr id="75" name="Text 73"/>
          <p:cNvSpPr/>
          <p:nvPr/>
        </p:nvSpPr>
        <p:spPr>
          <a:xfrm>
            <a:off x="5257800" y="5138928"/>
            <a:ext cx="1920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</a:rPr>
              <a:t>Supports prescribing decisions, flags potential interactions and optimization opportunities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5212080" y="5998464"/>
            <a:ext cx="2011680" cy="347472"/>
          </a:xfrm>
          <a:prstGeom prst="rect">
            <a:avLst/>
          </a:prstGeom>
          <a:solidFill>
            <a:srgbClr val="E8F4FF"/>
          </a:solidFill>
          <a:ln w="12700">
            <a:solidFill>
              <a:srgbClr val="BBCFE8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230368" y="5998464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71B9"/>
                </a:solidFill>
              </a:rPr>
              <a:t>✓  ↓ Prescribing errors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7406640" y="1463040"/>
            <a:ext cx="210312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BBCF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79" name="Shape 77"/>
          <p:cNvSpPr/>
          <p:nvPr/>
        </p:nvSpPr>
        <p:spPr>
          <a:xfrm>
            <a:off x="7406640" y="1463040"/>
            <a:ext cx="2103120" cy="292608"/>
          </a:xfrm>
          <a:prstGeom prst="rect">
            <a:avLst/>
          </a:prstGeom>
          <a:solidFill>
            <a:srgbClr val="0D558B"/>
          </a:solidFill>
          <a:ln w="12700">
            <a:solidFill>
              <a:srgbClr val="0D558B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7452360" y="149047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Smart Float Allocation Agent</a:t>
            </a:r>
            <a:endParaRPr lang="en-US" sz="850" dirty="0"/>
          </a:p>
        </p:txBody>
      </p:sp>
      <p:sp>
        <p:nvSpPr>
          <p:cNvPr id="81" name="Text 79"/>
          <p:cNvSpPr/>
          <p:nvPr/>
        </p:nvSpPr>
        <p:spPr>
          <a:xfrm>
            <a:off x="7452360" y="1792224"/>
            <a:ext cx="2011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</a:rPr>
              <a:t>Assigns staff based on skill match, fatigue level, fairness score, and availability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7406640" y="2651760"/>
            <a:ext cx="2103120" cy="347472"/>
          </a:xfrm>
          <a:prstGeom prst="rect">
            <a:avLst/>
          </a:prstGeom>
          <a:solidFill>
            <a:srgbClr val="E8F4FF"/>
          </a:solidFill>
          <a:ln w="12700">
            <a:solidFill>
              <a:srgbClr val="BBCFE8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7424928" y="265176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558B"/>
                </a:solidFill>
              </a:rPr>
              <a:t>✓  50% faster gap resolution</a:t>
            </a:r>
            <a:endParaRPr lang="en-US" sz="850" dirty="0"/>
          </a:p>
        </p:txBody>
      </p:sp>
      <p:sp>
        <p:nvSpPr>
          <p:cNvPr id="84" name="Shape 82"/>
          <p:cNvSpPr/>
          <p:nvPr/>
        </p:nvSpPr>
        <p:spPr>
          <a:xfrm>
            <a:off x="7406640" y="3136392"/>
            <a:ext cx="210312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BBCF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85" name="Shape 83"/>
          <p:cNvSpPr/>
          <p:nvPr/>
        </p:nvSpPr>
        <p:spPr>
          <a:xfrm>
            <a:off x="7406640" y="3136392"/>
            <a:ext cx="2103120" cy="292608"/>
          </a:xfrm>
          <a:prstGeom prst="rect">
            <a:avLst/>
          </a:prstGeom>
          <a:solidFill>
            <a:srgbClr val="0D558B"/>
          </a:solidFill>
          <a:ln w="12700">
            <a:solidFill>
              <a:srgbClr val="0D558B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7452360" y="316382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Surge Resolution Agent</a:t>
            </a:r>
            <a:endParaRPr lang="en-US" sz="850" dirty="0"/>
          </a:p>
        </p:txBody>
      </p:sp>
      <p:sp>
        <p:nvSpPr>
          <p:cNvPr id="87" name="Text 85"/>
          <p:cNvSpPr/>
          <p:nvPr/>
        </p:nvSpPr>
        <p:spPr>
          <a:xfrm>
            <a:off x="7452360" y="3465576"/>
            <a:ext cx="2011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</a:rPr>
              <a:t>Detects burnout-threshold breaches; recommends redistribution or backup staff activation</a:t>
            </a:r>
            <a:endParaRPr lang="en-US" sz="850" dirty="0"/>
          </a:p>
        </p:txBody>
      </p:sp>
      <p:sp>
        <p:nvSpPr>
          <p:cNvPr id="88" name="Shape 86"/>
          <p:cNvSpPr/>
          <p:nvPr/>
        </p:nvSpPr>
        <p:spPr>
          <a:xfrm>
            <a:off x="7406640" y="4325112"/>
            <a:ext cx="2103120" cy="347472"/>
          </a:xfrm>
          <a:prstGeom prst="rect">
            <a:avLst/>
          </a:prstGeom>
          <a:solidFill>
            <a:srgbClr val="E8F4FF"/>
          </a:solidFill>
          <a:ln w="12700">
            <a:solidFill>
              <a:srgbClr val="BBCFE8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7424928" y="4325112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558B"/>
                </a:solidFill>
              </a:rPr>
              <a:t>✓  ↓ 25% overtime usage</a:t>
            </a:r>
            <a:endParaRPr lang="en-US" sz="850" dirty="0"/>
          </a:p>
        </p:txBody>
      </p:sp>
      <p:sp>
        <p:nvSpPr>
          <p:cNvPr id="90" name="Shape 88"/>
          <p:cNvSpPr/>
          <p:nvPr/>
        </p:nvSpPr>
        <p:spPr>
          <a:xfrm>
            <a:off x="7406640" y="4809744"/>
            <a:ext cx="210312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BBCF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1" name="Shape 89"/>
          <p:cNvSpPr/>
          <p:nvPr/>
        </p:nvSpPr>
        <p:spPr>
          <a:xfrm>
            <a:off x="7406640" y="4809744"/>
            <a:ext cx="2103120" cy="292608"/>
          </a:xfrm>
          <a:prstGeom prst="rect">
            <a:avLst/>
          </a:prstGeom>
          <a:solidFill>
            <a:srgbClr val="0D558B"/>
          </a:solidFill>
          <a:ln w="12700">
            <a:solidFill>
              <a:srgbClr val="0D558B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7452360" y="483717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Fatigue Monitoring Agent</a:t>
            </a:r>
            <a:endParaRPr lang="en-US" sz="850" dirty="0"/>
          </a:p>
        </p:txBody>
      </p:sp>
      <p:sp>
        <p:nvSpPr>
          <p:cNvPr id="93" name="Text 91"/>
          <p:cNvSpPr/>
          <p:nvPr/>
        </p:nvSpPr>
        <p:spPr>
          <a:xfrm>
            <a:off x="7452360" y="5138928"/>
            <a:ext cx="2011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</a:rPr>
              <a:t>Tracks persistent burnout trends and flags at-risk staff before breach — not after</a:t>
            </a:r>
            <a:endParaRPr lang="en-US" sz="850" dirty="0"/>
          </a:p>
        </p:txBody>
      </p:sp>
      <p:sp>
        <p:nvSpPr>
          <p:cNvPr id="94" name="Shape 92"/>
          <p:cNvSpPr/>
          <p:nvPr/>
        </p:nvSpPr>
        <p:spPr>
          <a:xfrm>
            <a:off x="7406640" y="5998464"/>
            <a:ext cx="2103120" cy="347472"/>
          </a:xfrm>
          <a:prstGeom prst="rect">
            <a:avLst/>
          </a:prstGeom>
          <a:solidFill>
            <a:srgbClr val="E8F4FF"/>
          </a:solidFill>
          <a:ln w="12700">
            <a:solidFill>
              <a:srgbClr val="BBCFE8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7424928" y="5998464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558B"/>
                </a:solidFill>
              </a:rPr>
              <a:t>✓  Proactive intervention</a:t>
            </a:r>
            <a:endParaRPr lang="en-US" sz="850" dirty="0"/>
          </a:p>
        </p:txBody>
      </p:sp>
      <p:sp>
        <p:nvSpPr>
          <p:cNvPr id="96" name="Shape 94"/>
          <p:cNvSpPr/>
          <p:nvPr/>
        </p:nvSpPr>
        <p:spPr>
          <a:xfrm>
            <a:off x="9692640" y="1463040"/>
            <a:ext cx="224028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BBCF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7" name="Shape 95"/>
          <p:cNvSpPr/>
          <p:nvPr/>
        </p:nvSpPr>
        <p:spPr>
          <a:xfrm>
            <a:off x="9692640" y="1463040"/>
            <a:ext cx="2240280" cy="292608"/>
          </a:xfrm>
          <a:prstGeom prst="rect">
            <a:avLst/>
          </a:prstGeom>
          <a:solidFill>
            <a:srgbClr val="0A3F6A"/>
          </a:solidFill>
          <a:ln w="12700">
            <a:solidFill>
              <a:srgbClr val="0A3F6A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9738360" y="149047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Capacity Optimization Agent</a:t>
            </a:r>
            <a:endParaRPr lang="en-US" sz="850" dirty="0"/>
          </a:p>
        </p:txBody>
      </p:sp>
      <p:sp>
        <p:nvSpPr>
          <p:cNvPr id="99" name="Text 97"/>
          <p:cNvSpPr/>
          <p:nvPr/>
        </p:nvSpPr>
        <p:spPr>
          <a:xfrm>
            <a:off x="9738360" y="1792224"/>
            <a:ext cx="2148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</a:rPr>
              <a:t>Identifies staff-driven bottlenecks; recommends patient movement and load balancing</a:t>
            </a:r>
            <a:endParaRPr lang="en-US" sz="850" dirty="0"/>
          </a:p>
        </p:txBody>
      </p:sp>
      <p:sp>
        <p:nvSpPr>
          <p:cNvPr id="100" name="Shape 98"/>
          <p:cNvSpPr/>
          <p:nvPr/>
        </p:nvSpPr>
        <p:spPr>
          <a:xfrm>
            <a:off x="9692640" y="2651760"/>
            <a:ext cx="2240280" cy="347472"/>
          </a:xfrm>
          <a:prstGeom prst="rect">
            <a:avLst/>
          </a:prstGeom>
          <a:solidFill>
            <a:srgbClr val="E8F4FF"/>
          </a:solidFill>
          <a:ln w="12700">
            <a:solidFill>
              <a:srgbClr val="BBCFE8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9710928" y="26517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3F6A"/>
                </a:solidFill>
              </a:rPr>
              <a:t>✓  ↓ ED boarding by 18%</a:t>
            </a:r>
            <a:endParaRPr lang="en-US" sz="850" dirty="0"/>
          </a:p>
        </p:txBody>
      </p:sp>
      <p:sp>
        <p:nvSpPr>
          <p:cNvPr id="102" name="Shape 100"/>
          <p:cNvSpPr/>
          <p:nvPr/>
        </p:nvSpPr>
        <p:spPr>
          <a:xfrm>
            <a:off x="9692640" y="3136392"/>
            <a:ext cx="224028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BBCF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03" name="Shape 101"/>
          <p:cNvSpPr/>
          <p:nvPr/>
        </p:nvSpPr>
        <p:spPr>
          <a:xfrm>
            <a:off x="9692640" y="3136392"/>
            <a:ext cx="2240280" cy="292608"/>
          </a:xfrm>
          <a:prstGeom prst="rect">
            <a:avLst/>
          </a:prstGeom>
          <a:solidFill>
            <a:srgbClr val="0A3F6A"/>
          </a:solidFill>
          <a:ln w="12700">
            <a:solidFill>
              <a:srgbClr val="0A3F6A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9738360" y="3163824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Demand-Supply Planning Agent</a:t>
            </a:r>
            <a:endParaRPr lang="en-US" sz="850" dirty="0"/>
          </a:p>
        </p:txBody>
      </p:sp>
      <p:sp>
        <p:nvSpPr>
          <p:cNvPr id="105" name="Text 103"/>
          <p:cNvSpPr/>
          <p:nvPr/>
        </p:nvSpPr>
        <p:spPr>
          <a:xfrm>
            <a:off x="9738360" y="3465576"/>
            <a:ext cx="2148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</a:rPr>
              <a:t>Detects recurring burnout patterns; generates hiring plans and capacity adjustments</a:t>
            </a:r>
            <a:endParaRPr lang="en-US" sz="850" dirty="0"/>
          </a:p>
        </p:txBody>
      </p:sp>
      <p:sp>
        <p:nvSpPr>
          <p:cNvPr id="106" name="Shape 104"/>
          <p:cNvSpPr/>
          <p:nvPr/>
        </p:nvSpPr>
        <p:spPr>
          <a:xfrm>
            <a:off x="9692640" y="4325112"/>
            <a:ext cx="2240280" cy="347472"/>
          </a:xfrm>
          <a:prstGeom prst="rect">
            <a:avLst/>
          </a:prstGeom>
          <a:solidFill>
            <a:srgbClr val="E8F4FF"/>
          </a:solidFill>
          <a:ln w="12700">
            <a:solidFill>
              <a:srgbClr val="BBCFE8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9710928" y="43251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3F6A"/>
                </a:solidFill>
              </a:rPr>
              <a:t>✓  15% bed utilization gain</a:t>
            </a:r>
            <a:endParaRPr lang="en-US" sz="850" dirty="0"/>
          </a:p>
        </p:txBody>
      </p:sp>
      <p:sp>
        <p:nvSpPr>
          <p:cNvPr id="108" name="Shape 106"/>
          <p:cNvSpPr/>
          <p:nvPr/>
        </p:nvSpPr>
        <p:spPr>
          <a:xfrm>
            <a:off x="9692640" y="4809744"/>
            <a:ext cx="224028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BBCF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09" name="Shape 107"/>
          <p:cNvSpPr/>
          <p:nvPr/>
        </p:nvSpPr>
        <p:spPr>
          <a:xfrm>
            <a:off x="9692640" y="4809744"/>
            <a:ext cx="2240280" cy="292608"/>
          </a:xfrm>
          <a:prstGeom prst="rect">
            <a:avLst/>
          </a:prstGeom>
          <a:solidFill>
            <a:srgbClr val="0A3F6A"/>
          </a:solidFill>
          <a:ln w="12700">
            <a:solidFill>
              <a:srgbClr val="0A3F6A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9738360" y="4837176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Performance Analytics Agent</a:t>
            </a:r>
            <a:endParaRPr lang="en-US" sz="850" dirty="0"/>
          </a:p>
        </p:txBody>
      </p:sp>
      <p:sp>
        <p:nvSpPr>
          <p:cNvPr id="111" name="Text 109"/>
          <p:cNvSpPr/>
          <p:nvPr/>
        </p:nvSpPr>
        <p:spPr>
          <a:xfrm>
            <a:off x="9738360" y="5138928"/>
            <a:ext cx="2148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</a:rPr>
              <a:t>Closes the loop with outcome tracking, trend learning, and system improvement reports</a:t>
            </a:r>
            <a:endParaRPr lang="en-US" sz="850" dirty="0"/>
          </a:p>
        </p:txBody>
      </p:sp>
      <p:sp>
        <p:nvSpPr>
          <p:cNvPr id="112" name="Shape 110"/>
          <p:cNvSpPr/>
          <p:nvPr/>
        </p:nvSpPr>
        <p:spPr>
          <a:xfrm>
            <a:off x="9692640" y="5998464"/>
            <a:ext cx="2240280" cy="347472"/>
          </a:xfrm>
          <a:prstGeom prst="rect">
            <a:avLst/>
          </a:prstGeom>
          <a:solidFill>
            <a:srgbClr val="E8F4FF"/>
          </a:solidFill>
          <a:ln w="12700">
            <a:solidFill>
              <a:srgbClr val="BBCFE8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9710928" y="599846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3F6A"/>
                </a:solidFill>
              </a:rPr>
              <a:t>✓  Continuous improvement</a:t>
            </a:r>
            <a:endParaRPr lang="en-US" sz="850" dirty="0"/>
          </a:p>
        </p:txBody>
      </p:sp>
      <p:sp>
        <p:nvSpPr>
          <p:cNvPr id="114" name="Shape 112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0D558B"/>
          </a:solidFill>
          <a:ln w="12700">
            <a:solidFill>
              <a:srgbClr val="0D558B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i="1" dirty="0">
                <a:solidFill>
                  <a:srgbClr val="51ADED"/>
                </a:solidFill>
              </a:rPr>
              <a:t>Closed-Loop Intelligence: Detect → Diagnose → Decide → Execute → Monitor → Learn → Improve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D558B"/>
          </a:solidFill>
          <a:ln w="12700">
            <a:solidFill>
              <a:srgbClr val="0D558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51ADED"/>
          </a:solidFill>
          <a:ln w="12700">
            <a:solidFill>
              <a:srgbClr val="51AD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228600"/>
            <a:ext cx="1463040" cy="411480"/>
          </a:xfrm>
          <a:prstGeom prst="rect">
            <a:avLst/>
          </a:prstGeom>
          <a:solidFill>
            <a:srgbClr val="51ADED"/>
          </a:solidFill>
          <a:ln w="12700">
            <a:solidFill>
              <a:srgbClr val="51AD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2286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558B"/>
                </a:solidFill>
              </a:rPr>
              <a:t>SLIDE 03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011680" y="13716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Persona Benefits &amp; Strategic Impact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961120" y="2286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51ADED"/>
                </a:solidFill>
              </a:rPr>
              <a:t>How it makes every stakeholder's life better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82880" y="1005840"/>
            <a:ext cx="288036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BBCF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82880" y="1005840"/>
            <a:ext cx="2880360" cy="566928"/>
          </a:xfrm>
          <a:prstGeom prst="rect">
            <a:avLst/>
          </a:prstGeom>
          <a:solidFill>
            <a:srgbClr val="1A6FA8"/>
          </a:solidFill>
          <a:ln w="12700">
            <a:solidFill>
              <a:srgbClr val="1A6F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2608" y="1060704"/>
            <a:ext cx="2697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👩‍⚕️  NURSE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92608" y="1645920"/>
            <a:ext cx="2660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1A6FA8"/>
                </a:solidFill>
              </a:rPr>
              <a:t>PAIN TODAY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292608" y="1837944"/>
            <a:ext cx="2624328" cy="0"/>
          </a:xfrm>
          <a:prstGeom prst="line">
            <a:avLst/>
          </a:prstGeom>
          <a:noFill/>
          <a:ln w="10160">
            <a:solidFill>
              <a:srgbClr val="BBCF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2608" y="1865376"/>
            <a:ext cx="26609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66666"/>
                </a:solidFill>
              </a:rPr>
              <a:t>Drowning in documentation &amp; admin tasks during every shift — less than 40% of time on direct care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92608" y="2377440"/>
            <a:ext cx="2660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1A6FA8"/>
                </a:solidFill>
              </a:rPr>
              <a:t>HOW WE HELP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292608" y="2569464"/>
            <a:ext cx="2624328" cy="0"/>
          </a:xfrm>
          <a:prstGeom prst="line">
            <a:avLst/>
          </a:prstGeom>
          <a:noFill/>
          <a:ln w="10160">
            <a:solidFill>
              <a:srgbClr val="BBCF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92608" y="2670048"/>
            <a:ext cx="91440" cy="91440"/>
          </a:xfrm>
          <a:prstGeom prst="ellipse">
            <a:avLst/>
          </a:prstGeom>
          <a:solidFill>
            <a:srgbClr val="51ADED"/>
          </a:solidFill>
          <a:ln w="12700">
            <a:solidFill>
              <a:srgbClr val="51AD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0624" y="2615184"/>
            <a:ext cx="25511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B3C"/>
                </a:solidFill>
              </a:rPr>
              <a:t>SOAP notes auto-generated from patient context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92608" y="2953512"/>
            <a:ext cx="91440" cy="91440"/>
          </a:xfrm>
          <a:prstGeom prst="ellipse">
            <a:avLst/>
          </a:prstGeom>
          <a:solidFill>
            <a:srgbClr val="51ADED"/>
          </a:solidFill>
          <a:ln w="12700">
            <a:solidFill>
              <a:srgbClr val="51AD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0624" y="2898648"/>
            <a:ext cx="25511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B3C"/>
                </a:solidFill>
              </a:rPr>
              <a:t>Shift handoffs completed in minutes, not 30+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92608" y="3236976"/>
            <a:ext cx="91440" cy="91440"/>
          </a:xfrm>
          <a:prstGeom prst="ellipse">
            <a:avLst/>
          </a:prstGeom>
          <a:solidFill>
            <a:srgbClr val="51ADED"/>
          </a:solidFill>
          <a:ln w="12700">
            <a:solidFill>
              <a:srgbClr val="51AD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0624" y="3182112"/>
            <a:ext cx="25511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B3C"/>
                </a:solidFill>
              </a:rPr>
              <a:t>Prior authorizations handled without manual effort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92608" y="3520440"/>
            <a:ext cx="91440" cy="91440"/>
          </a:xfrm>
          <a:prstGeom prst="ellipse">
            <a:avLst/>
          </a:prstGeom>
          <a:solidFill>
            <a:srgbClr val="51ADED"/>
          </a:solidFill>
          <a:ln w="12700">
            <a:solidFill>
              <a:srgbClr val="51AD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0624" y="3465576"/>
            <a:ext cx="25511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B3C"/>
                </a:solidFill>
              </a:rPr>
              <a:t>Workload visible and distributed fairly across unit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182880" y="3840480"/>
            <a:ext cx="2880360" cy="530352"/>
          </a:xfrm>
          <a:prstGeom prst="rect">
            <a:avLst/>
          </a:prstGeom>
          <a:solidFill>
            <a:srgbClr val="1A6FA8"/>
          </a:solidFill>
          <a:ln w="12700">
            <a:solidFill>
              <a:srgbClr val="1A6FA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37744" y="3895344"/>
            <a:ext cx="9052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</a:rPr>
              <a:t>40% less charting</a:t>
            </a:r>
            <a:endParaRPr lang="en-US" sz="780" dirty="0"/>
          </a:p>
        </p:txBody>
      </p:sp>
      <p:sp>
        <p:nvSpPr>
          <p:cNvPr id="26" name="Text 24"/>
          <p:cNvSpPr/>
          <p:nvPr/>
        </p:nvSpPr>
        <p:spPr>
          <a:xfrm>
            <a:off x="1197864" y="3895344"/>
            <a:ext cx="9052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</a:rPr>
              <a:t>6 hrs saved/week</a:t>
            </a:r>
            <a:endParaRPr lang="en-US" sz="780" dirty="0"/>
          </a:p>
        </p:txBody>
      </p:sp>
      <p:sp>
        <p:nvSpPr>
          <p:cNvPr id="27" name="Text 25"/>
          <p:cNvSpPr/>
          <p:nvPr/>
        </p:nvSpPr>
        <p:spPr>
          <a:xfrm>
            <a:off x="2157984" y="3895344"/>
            <a:ext cx="9052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</a:rPr>
              <a:t>↓ 30% after-hours work</a:t>
            </a:r>
            <a:endParaRPr lang="en-US" sz="780" dirty="0"/>
          </a:p>
        </p:txBody>
      </p:sp>
      <p:sp>
        <p:nvSpPr>
          <p:cNvPr id="28" name="Text 26"/>
          <p:cNvSpPr/>
          <p:nvPr/>
        </p:nvSpPr>
        <p:spPr>
          <a:xfrm>
            <a:off x="274320" y="4434840"/>
            <a:ext cx="27157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1A6FA8"/>
                </a:solidFill>
              </a:rPr>
              <a:t>❝  More time at the bedside, less time at the screen.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3172968" y="1005840"/>
            <a:ext cx="288036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BBCF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172968" y="1005840"/>
            <a:ext cx="2880360" cy="566928"/>
          </a:xfrm>
          <a:prstGeom prst="rect">
            <a:avLst/>
          </a:prstGeom>
          <a:solidFill>
            <a:srgbClr val="1171B9"/>
          </a:solidFill>
          <a:ln w="12700">
            <a:solidFill>
              <a:srgbClr val="1171B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82696" y="1060704"/>
            <a:ext cx="2697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👨‍⚕️  PHYSICIAN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282696" y="1645920"/>
            <a:ext cx="2660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1171B9"/>
                </a:solidFill>
              </a:rPr>
              <a:t>PAIN TODAY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3282696" y="1837944"/>
            <a:ext cx="2624328" cy="0"/>
          </a:xfrm>
          <a:prstGeom prst="line">
            <a:avLst/>
          </a:prstGeom>
          <a:noFill/>
          <a:ln w="10160">
            <a:solidFill>
              <a:srgbClr val="BBCF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82696" y="1865376"/>
            <a:ext cx="26609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66666"/>
                </a:solidFill>
              </a:rPr>
              <a:t>High cognitive load from fragmented workflows — up to 2 hrs/day on non-clinical tasks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282696" y="2377440"/>
            <a:ext cx="2660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1171B9"/>
                </a:solidFill>
              </a:rPr>
              <a:t>HOW WE HELP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3282696" y="2569464"/>
            <a:ext cx="2624328" cy="0"/>
          </a:xfrm>
          <a:prstGeom prst="line">
            <a:avLst/>
          </a:prstGeom>
          <a:noFill/>
          <a:ln w="10160">
            <a:solidFill>
              <a:srgbClr val="BBCFE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282696" y="2670048"/>
            <a:ext cx="91440" cy="91440"/>
          </a:xfrm>
          <a:prstGeom prst="ellipse">
            <a:avLst/>
          </a:prstGeom>
          <a:solidFill>
            <a:srgbClr val="51ADED"/>
          </a:solidFill>
          <a:ln w="12700">
            <a:solidFill>
              <a:srgbClr val="51ADE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10712" y="2615184"/>
            <a:ext cx="25511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B3C"/>
                </a:solidFill>
              </a:rPr>
              <a:t>Clinical insights surfaced at the point of care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282696" y="2953512"/>
            <a:ext cx="91440" cy="91440"/>
          </a:xfrm>
          <a:prstGeom prst="ellipse">
            <a:avLst/>
          </a:prstGeom>
          <a:solidFill>
            <a:srgbClr val="51ADED"/>
          </a:solidFill>
          <a:ln w="12700">
            <a:solidFill>
              <a:srgbClr val="51ADE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10712" y="2898648"/>
            <a:ext cx="25511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B3C"/>
                </a:solidFill>
              </a:rPr>
              <a:t>Specialist referrals recommended automatically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282696" y="3236976"/>
            <a:ext cx="91440" cy="91440"/>
          </a:xfrm>
          <a:prstGeom prst="ellipse">
            <a:avLst/>
          </a:prstGeom>
          <a:solidFill>
            <a:srgbClr val="51ADED"/>
          </a:solidFill>
          <a:ln w="12700">
            <a:solidFill>
              <a:srgbClr val="51ADE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410712" y="3182112"/>
            <a:ext cx="25511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B3C"/>
                </a:solidFill>
              </a:rPr>
              <a:t>Medication decisions supported and flagged in real time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3282696" y="3520440"/>
            <a:ext cx="91440" cy="91440"/>
          </a:xfrm>
          <a:prstGeom prst="ellipse">
            <a:avLst/>
          </a:prstGeom>
          <a:solidFill>
            <a:srgbClr val="51ADED"/>
          </a:solidFill>
          <a:ln w="12700">
            <a:solidFill>
              <a:srgbClr val="51ADE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410712" y="3465576"/>
            <a:ext cx="25511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B3C"/>
                </a:solidFill>
              </a:rPr>
              <a:t>Time recovered from coordination and admin tasks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3172968" y="3840480"/>
            <a:ext cx="2880360" cy="530352"/>
          </a:xfrm>
          <a:prstGeom prst="rect">
            <a:avLst/>
          </a:prstGeom>
          <a:solidFill>
            <a:srgbClr val="1171B9"/>
          </a:solidFill>
          <a:ln w="12700">
            <a:solidFill>
              <a:srgbClr val="1171B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227832" y="3895344"/>
            <a:ext cx="9052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</a:rPr>
              <a:t>20% faster decisions</a:t>
            </a:r>
            <a:endParaRPr lang="en-US" sz="780" dirty="0"/>
          </a:p>
        </p:txBody>
      </p:sp>
      <p:sp>
        <p:nvSpPr>
          <p:cNvPr id="47" name="Text 45"/>
          <p:cNvSpPr/>
          <p:nvPr/>
        </p:nvSpPr>
        <p:spPr>
          <a:xfrm>
            <a:off x="4187952" y="3895344"/>
            <a:ext cx="9052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</a:rPr>
              <a:t>↓ 35% admin burden</a:t>
            </a:r>
            <a:endParaRPr lang="en-US" sz="780" dirty="0"/>
          </a:p>
        </p:txBody>
      </p:sp>
      <p:sp>
        <p:nvSpPr>
          <p:cNvPr id="48" name="Text 46"/>
          <p:cNvSpPr/>
          <p:nvPr/>
        </p:nvSpPr>
        <p:spPr>
          <a:xfrm>
            <a:off x="5148072" y="3895344"/>
            <a:ext cx="9052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</a:rPr>
              <a:t>2 hrs reclaimed/day</a:t>
            </a:r>
            <a:endParaRPr lang="en-US" sz="780" dirty="0"/>
          </a:p>
        </p:txBody>
      </p:sp>
      <p:sp>
        <p:nvSpPr>
          <p:cNvPr id="49" name="Text 47"/>
          <p:cNvSpPr/>
          <p:nvPr/>
        </p:nvSpPr>
        <p:spPr>
          <a:xfrm>
            <a:off x="3264408" y="4434840"/>
            <a:ext cx="27157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1171B9"/>
                </a:solidFill>
              </a:rPr>
              <a:t>❝  Decisions made with confidence, not cognitive overload.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6163056" y="1005840"/>
            <a:ext cx="288036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BBCF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6163056" y="1005840"/>
            <a:ext cx="2880360" cy="566928"/>
          </a:xfrm>
          <a:prstGeom prst="rect">
            <a:avLst/>
          </a:prstGeom>
          <a:solidFill>
            <a:srgbClr val="0D558B"/>
          </a:solidFill>
          <a:ln w="12700">
            <a:solidFill>
              <a:srgbClr val="0D558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272784" y="1060704"/>
            <a:ext cx="2697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📋  STAFFING DIRECTOR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6272784" y="1645920"/>
            <a:ext cx="2660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0D558B"/>
                </a:solidFill>
              </a:rPr>
              <a:t>PAIN TODAY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6272784" y="1837944"/>
            <a:ext cx="2624328" cy="0"/>
          </a:xfrm>
          <a:prstGeom prst="line">
            <a:avLst/>
          </a:prstGeom>
          <a:noFill/>
          <a:ln w="10160">
            <a:solidFill>
              <a:srgbClr val="BBCFE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272784" y="1865376"/>
            <a:ext cx="26609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66666"/>
                </a:solidFill>
              </a:rPr>
              <a:t>Reacting to staffing gaps with no early warning — agency escalations cost 3–4× base rate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6272784" y="2377440"/>
            <a:ext cx="2660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0D558B"/>
                </a:solidFill>
              </a:rPr>
              <a:t>HOW WE HELP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6272784" y="2569464"/>
            <a:ext cx="2624328" cy="0"/>
          </a:xfrm>
          <a:prstGeom prst="line">
            <a:avLst/>
          </a:prstGeom>
          <a:noFill/>
          <a:ln w="10160">
            <a:solidFill>
              <a:srgbClr val="BBCFE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272784" y="2670048"/>
            <a:ext cx="91440" cy="91440"/>
          </a:xfrm>
          <a:prstGeom prst="ellipse">
            <a:avLst/>
          </a:prstGeom>
          <a:solidFill>
            <a:srgbClr val="51ADED"/>
          </a:solidFill>
          <a:ln w="12700">
            <a:solidFill>
              <a:srgbClr val="51ADED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400800" y="2615184"/>
            <a:ext cx="25511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B3C"/>
                </a:solidFill>
              </a:rPr>
              <a:t>Real-time burnout scores per staff member &amp; unit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6272784" y="2953512"/>
            <a:ext cx="91440" cy="91440"/>
          </a:xfrm>
          <a:prstGeom prst="ellipse">
            <a:avLst/>
          </a:prstGeom>
          <a:solidFill>
            <a:srgbClr val="51ADED"/>
          </a:solidFill>
          <a:ln w="12700">
            <a:solidFill>
              <a:srgbClr val="51ADE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400800" y="2898648"/>
            <a:ext cx="25511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B3C"/>
                </a:solidFill>
              </a:rPr>
              <a:t>Float assignments driven by fatigue, skills &amp; fairness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6272784" y="3236976"/>
            <a:ext cx="91440" cy="91440"/>
          </a:xfrm>
          <a:prstGeom prst="ellipse">
            <a:avLst/>
          </a:prstGeom>
          <a:solidFill>
            <a:srgbClr val="51ADED"/>
          </a:solidFill>
          <a:ln w="12700">
            <a:solidFill>
              <a:srgbClr val="51ADED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400800" y="3182112"/>
            <a:ext cx="25511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B3C"/>
                </a:solidFill>
              </a:rPr>
              <a:t>Surge alerts triggered before thresholds are breached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6272784" y="3520440"/>
            <a:ext cx="91440" cy="91440"/>
          </a:xfrm>
          <a:prstGeom prst="ellipse">
            <a:avLst/>
          </a:prstGeom>
          <a:solidFill>
            <a:srgbClr val="51ADED"/>
          </a:solidFill>
          <a:ln w="12700">
            <a:solidFill>
              <a:srgbClr val="51ADED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00800" y="3465576"/>
            <a:ext cx="25511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B3C"/>
                </a:solidFill>
              </a:rPr>
              <a:t>Structured recommendations — not reactive fire-fighting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6163056" y="3840480"/>
            <a:ext cx="2880360" cy="530352"/>
          </a:xfrm>
          <a:prstGeom prst="rect">
            <a:avLst/>
          </a:prstGeom>
          <a:solidFill>
            <a:srgbClr val="0D558B"/>
          </a:solidFill>
          <a:ln w="12700">
            <a:solidFill>
              <a:srgbClr val="0D558B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217920" y="3895344"/>
            <a:ext cx="9052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</a:rPr>
              <a:t>50% faster gap response</a:t>
            </a:r>
            <a:endParaRPr lang="en-US" sz="780" dirty="0"/>
          </a:p>
        </p:txBody>
      </p:sp>
      <p:sp>
        <p:nvSpPr>
          <p:cNvPr id="68" name="Text 66"/>
          <p:cNvSpPr/>
          <p:nvPr/>
        </p:nvSpPr>
        <p:spPr>
          <a:xfrm>
            <a:off x="7178040" y="3895344"/>
            <a:ext cx="9052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</a:rPr>
              <a:t>25% overtime reduction</a:t>
            </a:r>
            <a:endParaRPr lang="en-US" sz="780" dirty="0"/>
          </a:p>
        </p:txBody>
      </p:sp>
      <p:sp>
        <p:nvSpPr>
          <p:cNvPr id="69" name="Text 67"/>
          <p:cNvSpPr/>
          <p:nvPr/>
        </p:nvSpPr>
        <p:spPr>
          <a:xfrm>
            <a:off x="8138160" y="3895344"/>
            <a:ext cx="9052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</a:rPr>
              <a:t>↑ Workforce utilization</a:t>
            </a:r>
            <a:endParaRPr lang="en-US" sz="780" dirty="0"/>
          </a:p>
        </p:txBody>
      </p:sp>
      <p:sp>
        <p:nvSpPr>
          <p:cNvPr id="70" name="Text 68"/>
          <p:cNvSpPr/>
          <p:nvPr/>
        </p:nvSpPr>
        <p:spPr>
          <a:xfrm>
            <a:off x="6254496" y="4434840"/>
            <a:ext cx="27157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0D558B"/>
                </a:solidFill>
              </a:rPr>
              <a:t>❝  From reactive chaos to proactive control.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9153144" y="1005840"/>
            <a:ext cx="288036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BBCF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2" name="Shape 70"/>
          <p:cNvSpPr/>
          <p:nvPr/>
        </p:nvSpPr>
        <p:spPr>
          <a:xfrm>
            <a:off x="9153144" y="1005840"/>
            <a:ext cx="2880360" cy="566928"/>
          </a:xfrm>
          <a:prstGeom prst="rect">
            <a:avLst/>
          </a:prstGeom>
          <a:solidFill>
            <a:srgbClr val="0A3F6A"/>
          </a:solidFill>
          <a:ln w="12700">
            <a:solidFill>
              <a:srgbClr val="0A3F6A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9262872" y="1060704"/>
            <a:ext cx="2697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⚙️  OPERATIONS HEAD</a:t>
            </a:r>
            <a:endParaRPr lang="en-US" sz="1300" dirty="0"/>
          </a:p>
        </p:txBody>
      </p:sp>
      <p:sp>
        <p:nvSpPr>
          <p:cNvPr id="74" name="Text 72"/>
          <p:cNvSpPr/>
          <p:nvPr/>
        </p:nvSpPr>
        <p:spPr>
          <a:xfrm>
            <a:off x="9262872" y="1645920"/>
            <a:ext cx="2660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0A3F6A"/>
                </a:solidFill>
              </a:rPr>
              <a:t>PAIN TODAY</a:t>
            </a:r>
            <a:endParaRPr lang="en-US" sz="750" dirty="0"/>
          </a:p>
        </p:txBody>
      </p:sp>
      <p:sp>
        <p:nvSpPr>
          <p:cNvPr id="75" name="Shape 73"/>
          <p:cNvSpPr/>
          <p:nvPr/>
        </p:nvSpPr>
        <p:spPr>
          <a:xfrm>
            <a:off x="9262872" y="1837944"/>
            <a:ext cx="2624328" cy="0"/>
          </a:xfrm>
          <a:prstGeom prst="line">
            <a:avLst/>
          </a:prstGeom>
          <a:noFill/>
          <a:ln w="10160">
            <a:solidFill>
              <a:srgbClr val="BBCFE8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9262872" y="1865376"/>
            <a:ext cx="26609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66666"/>
                </a:solidFill>
              </a:rPr>
              <a:t>Downstream delays with no root-cause visibility — burnout-driven bottlenecks invisible until it's too late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9262872" y="2377440"/>
            <a:ext cx="2660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0A3F6A"/>
                </a:solidFill>
              </a:rPr>
              <a:t>HOW WE HELP</a:t>
            </a:r>
            <a:endParaRPr lang="en-US" sz="750" dirty="0"/>
          </a:p>
        </p:txBody>
      </p:sp>
      <p:sp>
        <p:nvSpPr>
          <p:cNvPr id="78" name="Shape 76"/>
          <p:cNvSpPr/>
          <p:nvPr/>
        </p:nvSpPr>
        <p:spPr>
          <a:xfrm>
            <a:off x="9262872" y="2569464"/>
            <a:ext cx="2624328" cy="0"/>
          </a:xfrm>
          <a:prstGeom prst="line">
            <a:avLst/>
          </a:prstGeom>
          <a:noFill/>
          <a:ln w="10160">
            <a:solidFill>
              <a:srgbClr val="BBCFE8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9262872" y="2670048"/>
            <a:ext cx="91440" cy="91440"/>
          </a:xfrm>
          <a:prstGeom prst="ellipse">
            <a:avLst/>
          </a:prstGeom>
          <a:solidFill>
            <a:srgbClr val="51ADED"/>
          </a:solidFill>
          <a:ln w="12700">
            <a:solidFill>
              <a:srgbClr val="51ADED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9390888" y="2615184"/>
            <a:ext cx="25511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B3C"/>
                </a:solidFill>
              </a:rPr>
              <a:t>Burnout correlated to operational performance data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9262872" y="2953512"/>
            <a:ext cx="91440" cy="91440"/>
          </a:xfrm>
          <a:prstGeom prst="ellipse">
            <a:avLst/>
          </a:prstGeom>
          <a:solidFill>
            <a:srgbClr val="51ADED"/>
          </a:solidFill>
          <a:ln w="12700">
            <a:solidFill>
              <a:srgbClr val="51ADED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9390888" y="2898648"/>
            <a:ext cx="25511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B3C"/>
                </a:solidFill>
              </a:rPr>
              <a:t>Bottlenecks identified and load-balanced automatically</a:t>
            </a:r>
            <a:endParaRPr lang="en-US" sz="850" dirty="0"/>
          </a:p>
        </p:txBody>
      </p:sp>
      <p:sp>
        <p:nvSpPr>
          <p:cNvPr id="83" name="Shape 81"/>
          <p:cNvSpPr/>
          <p:nvPr/>
        </p:nvSpPr>
        <p:spPr>
          <a:xfrm>
            <a:off x="9262872" y="3236976"/>
            <a:ext cx="91440" cy="91440"/>
          </a:xfrm>
          <a:prstGeom prst="ellipse">
            <a:avLst/>
          </a:prstGeom>
          <a:solidFill>
            <a:srgbClr val="51ADED"/>
          </a:solidFill>
          <a:ln w="12700">
            <a:solidFill>
              <a:srgbClr val="51ADED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9390888" y="3182112"/>
            <a:ext cx="25511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B3C"/>
                </a:solidFill>
              </a:rPr>
              <a:t>Hiring and capacity plans generated from trend data</a:t>
            </a:r>
            <a:endParaRPr lang="en-US" sz="850" dirty="0"/>
          </a:p>
        </p:txBody>
      </p:sp>
      <p:sp>
        <p:nvSpPr>
          <p:cNvPr id="85" name="Shape 83"/>
          <p:cNvSpPr/>
          <p:nvPr/>
        </p:nvSpPr>
        <p:spPr>
          <a:xfrm>
            <a:off x="9262872" y="3520440"/>
            <a:ext cx="91440" cy="91440"/>
          </a:xfrm>
          <a:prstGeom prst="ellipse">
            <a:avLst/>
          </a:prstGeom>
          <a:solidFill>
            <a:srgbClr val="51ADED"/>
          </a:solidFill>
          <a:ln w="12700">
            <a:solidFill>
              <a:srgbClr val="51ADED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9390888" y="3465576"/>
            <a:ext cx="25511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B3C"/>
                </a:solidFill>
              </a:rPr>
              <a:t>System-wide gains without adding headcount</a:t>
            </a:r>
            <a:endParaRPr lang="en-US" sz="850" dirty="0"/>
          </a:p>
        </p:txBody>
      </p:sp>
      <p:sp>
        <p:nvSpPr>
          <p:cNvPr id="87" name="Shape 85"/>
          <p:cNvSpPr/>
          <p:nvPr/>
        </p:nvSpPr>
        <p:spPr>
          <a:xfrm>
            <a:off x="9153144" y="3840480"/>
            <a:ext cx="2880360" cy="530352"/>
          </a:xfrm>
          <a:prstGeom prst="rect">
            <a:avLst/>
          </a:prstGeom>
          <a:solidFill>
            <a:srgbClr val="0A3F6A"/>
          </a:solidFill>
          <a:ln w="12700">
            <a:solidFill>
              <a:srgbClr val="0A3F6A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9208008" y="3895344"/>
            <a:ext cx="9052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</a:rPr>
              <a:t>15% bed utilization gain</a:t>
            </a:r>
            <a:endParaRPr lang="en-US" sz="780" dirty="0"/>
          </a:p>
        </p:txBody>
      </p:sp>
      <p:sp>
        <p:nvSpPr>
          <p:cNvPr id="89" name="Text 87"/>
          <p:cNvSpPr/>
          <p:nvPr/>
        </p:nvSpPr>
        <p:spPr>
          <a:xfrm>
            <a:off x="10168128" y="3895344"/>
            <a:ext cx="9052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</a:rPr>
              <a:t>$3–5M annual savings*</a:t>
            </a:r>
            <a:endParaRPr lang="en-US" sz="780" dirty="0"/>
          </a:p>
        </p:txBody>
      </p:sp>
      <p:sp>
        <p:nvSpPr>
          <p:cNvPr id="90" name="Text 88"/>
          <p:cNvSpPr/>
          <p:nvPr/>
        </p:nvSpPr>
        <p:spPr>
          <a:xfrm>
            <a:off x="11128248" y="3895344"/>
            <a:ext cx="9052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</a:rPr>
              <a:t>↓ 18% ED boarding</a:t>
            </a:r>
            <a:endParaRPr lang="en-US" sz="780" dirty="0"/>
          </a:p>
        </p:txBody>
      </p:sp>
      <p:sp>
        <p:nvSpPr>
          <p:cNvPr id="91" name="Text 89"/>
          <p:cNvSpPr/>
          <p:nvPr/>
        </p:nvSpPr>
        <p:spPr>
          <a:xfrm>
            <a:off x="9244584" y="4434840"/>
            <a:ext cx="27157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0A3F6A"/>
                </a:solidFill>
              </a:rPr>
              <a:t>❝  Operational insight that drives decisions, not just reports.</a:t>
            </a:r>
            <a:endParaRPr lang="en-US" sz="750" dirty="0"/>
          </a:p>
        </p:txBody>
      </p:sp>
      <p:sp>
        <p:nvSpPr>
          <p:cNvPr id="92" name="Shape 90"/>
          <p:cNvSpPr/>
          <p:nvPr/>
        </p:nvSpPr>
        <p:spPr>
          <a:xfrm>
            <a:off x="182880" y="4864608"/>
            <a:ext cx="11795760" cy="329184"/>
          </a:xfrm>
          <a:prstGeom prst="rect">
            <a:avLst/>
          </a:prstGeom>
          <a:solidFill>
            <a:srgbClr val="0D558B"/>
          </a:solidFill>
          <a:ln w="12700">
            <a:solidFill>
              <a:srgbClr val="0D558B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182880" y="4864608"/>
            <a:ext cx="1179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</a:rPr>
              <a:t>OVERALL STRATEGIC IMPACT</a:t>
            </a:r>
            <a:endParaRPr lang="en-US" sz="1100" dirty="0"/>
          </a:p>
        </p:txBody>
      </p:sp>
      <p:sp>
        <p:nvSpPr>
          <p:cNvPr id="94" name="Shape 92"/>
          <p:cNvSpPr/>
          <p:nvPr/>
        </p:nvSpPr>
        <p:spPr>
          <a:xfrm>
            <a:off x="182880" y="5230368"/>
            <a:ext cx="2267712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BBCF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5" name="Shape 93"/>
          <p:cNvSpPr/>
          <p:nvPr/>
        </p:nvSpPr>
        <p:spPr>
          <a:xfrm>
            <a:off x="182880" y="5230368"/>
            <a:ext cx="2267712" cy="54864"/>
          </a:xfrm>
          <a:prstGeom prst="rect">
            <a:avLst/>
          </a:prstGeom>
          <a:solidFill>
            <a:srgbClr val="1171B9"/>
          </a:solidFill>
          <a:ln w="12700">
            <a:solidFill>
              <a:srgbClr val="1171B9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274320" y="5321808"/>
            <a:ext cx="2084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558B"/>
                </a:solidFill>
              </a:rPr>
              <a:t>👥 Workforce</a:t>
            </a:r>
            <a:endParaRPr lang="en-US" sz="1000" dirty="0"/>
          </a:p>
        </p:txBody>
      </p:sp>
      <p:sp>
        <p:nvSpPr>
          <p:cNvPr id="97" name="Text 95"/>
          <p:cNvSpPr/>
          <p:nvPr/>
        </p:nvSpPr>
        <p:spPr>
          <a:xfrm>
            <a:off x="274320" y="555040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71B9"/>
                </a:solidFill>
              </a:rPr>
              <a:t>20%</a:t>
            </a:r>
            <a:endParaRPr lang="en-US" sz="2600" dirty="0"/>
          </a:p>
        </p:txBody>
      </p:sp>
      <p:sp>
        <p:nvSpPr>
          <p:cNvPr id="98" name="Text 96"/>
          <p:cNvSpPr/>
          <p:nvPr/>
        </p:nvSpPr>
        <p:spPr>
          <a:xfrm>
            <a:off x="274320" y="5943600"/>
            <a:ext cx="20848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Staff retention improvement. Replacing one nurse costs $82–88K — proactive burnout prevention changes the math.</a:t>
            </a:r>
            <a:endParaRPr lang="en-US" sz="800" dirty="0"/>
          </a:p>
        </p:txBody>
      </p:sp>
      <p:sp>
        <p:nvSpPr>
          <p:cNvPr id="99" name="Shape 97"/>
          <p:cNvSpPr/>
          <p:nvPr/>
        </p:nvSpPr>
        <p:spPr>
          <a:xfrm>
            <a:off x="2560320" y="5230368"/>
            <a:ext cx="2267712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BBCF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00" name="Shape 98"/>
          <p:cNvSpPr/>
          <p:nvPr/>
        </p:nvSpPr>
        <p:spPr>
          <a:xfrm>
            <a:off x="2560320" y="5230368"/>
            <a:ext cx="2267712" cy="54864"/>
          </a:xfrm>
          <a:prstGeom prst="rect">
            <a:avLst/>
          </a:prstGeom>
          <a:solidFill>
            <a:srgbClr val="1171B9"/>
          </a:solidFill>
          <a:ln w="12700">
            <a:solidFill>
              <a:srgbClr val="1171B9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2651760" y="5321808"/>
            <a:ext cx="2084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558B"/>
                </a:solidFill>
              </a:rPr>
              <a:t>🏥 Clinical Quality</a:t>
            </a:r>
            <a:endParaRPr lang="en-US" sz="1000" dirty="0"/>
          </a:p>
        </p:txBody>
      </p:sp>
      <p:sp>
        <p:nvSpPr>
          <p:cNvPr id="102" name="Text 100"/>
          <p:cNvSpPr/>
          <p:nvPr/>
        </p:nvSpPr>
        <p:spPr>
          <a:xfrm>
            <a:off x="2651760" y="555040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71B9"/>
                </a:solidFill>
              </a:rPr>
              <a:t>40%</a:t>
            </a:r>
            <a:endParaRPr lang="en-US" sz="2600" dirty="0"/>
          </a:p>
        </p:txBody>
      </p:sp>
      <p:sp>
        <p:nvSpPr>
          <p:cNvPr id="103" name="Text 101"/>
          <p:cNvSpPr/>
          <p:nvPr/>
        </p:nvSpPr>
        <p:spPr>
          <a:xfrm>
            <a:off x="2651760" y="5943600"/>
            <a:ext cx="20848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Reduction in time spent on admin tasks, returning clinicians to direct patient care.</a:t>
            </a:r>
            <a:endParaRPr lang="en-US" sz="800" dirty="0"/>
          </a:p>
        </p:txBody>
      </p:sp>
      <p:sp>
        <p:nvSpPr>
          <p:cNvPr id="104" name="Shape 102"/>
          <p:cNvSpPr/>
          <p:nvPr/>
        </p:nvSpPr>
        <p:spPr>
          <a:xfrm>
            <a:off x="4937760" y="5230368"/>
            <a:ext cx="2267712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BBCF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05" name="Shape 103"/>
          <p:cNvSpPr/>
          <p:nvPr/>
        </p:nvSpPr>
        <p:spPr>
          <a:xfrm>
            <a:off x="4937760" y="5230368"/>
            <a:ext cx="2267712" cy="54864"/>
          </a:xfrm>
          <a:prstGeom prst="rect">
            <a:avLst/>
          </a:prstGeom>
          <a:solidFill>
            <a:srgbClr val="1171B9"/>
          </a:solidFill>
          <a:ln w="12700">
            <a:solidFill>
              <a:srgbClr val="1171B9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5029200" y="5321808"/>
            <a:ext cx="2084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558B"/>
                </a:solidFill>
              </a:rPr>
              <a:t>⚡ Operational</a:t>
            </a:r>
            <a:endParaRPr lang="en-US" sz="1000" dirty="0"/>
          </a:p>
        </p:txBody>
      </p:sp>
      <p:sp>
        <p:nvSpPr>
          <p:cNvPr id="107" name="Text 105"/>
          <p:cNvSpPr/>
          <p:nvPr/>
        </p:nvSpPr>
        <p:spPr>
          <a:xfrm>
            <a:off x="5029200" y="555040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71B9"/>
                </a:solidFill>
              </a:rPr>
              <a:t>18%</a:t>
            </a:r>
            <a:endParaRPr lang="en-US" sz="2600" dirty="0"/>
          </a:p>
        </p:txBody>
      </p:sp>
      <p:sp>
        <p:nvSpPr>
          <p:cNvPr id="108" name="Text 106"/>
          <p:cNvSpPr/>
          <p:nvPr/>
        </p:nvSpPr>
        <p:spPr>
          <a:xfrm>
            <a:off x="5029200" y="5943600"/>
            <a:ext cx="20848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Reduction in ED boarding time through real-time capacity rebalancing and load-aware staffing.</a:t>
            </a:r>
            <a:endParaRPr lang="en-US" sz="800" dirty="0"/>
          </a:p>
        </p:txBody>
      </p:sp>
      <p:sp>
        <p:nvSpPr>
          <p:cNvPr id="109" name="Shape 107"/>
          <p:cNvSpPr/>
          <p:nvPr/>
        </p:nvSpPr>
        <p:spPr>
          <a:xfrm>
            <a:off x="7315200" y="5230368"/>
            <a:ext cx="2267712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BBCF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10" name="Shape 108"/>
          <p:cNvSpPr/>
          <p:nvPr/>
        </p:nvSpPr>
        <p:spPr>
          <a:xfrm>
            <a:off x="7315200" y="5230368"/>
            <a:ext cx="2267712" cy="54864"/>
          </a:xfrm>
          <a:prstGeom prst="rect">
            <a:avLst/>
          </a:prstGeom>
          <a:solidFill>
            <a:srgbClr val="1171B9"/>
          </a:solidFill>
          <a:ln w="12700">
            <a:solidFill>
              <a:srgbClr val="1171B9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7406640" y="5321808"/>
            <a:ext cx="2084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558B"/>
                </a:solidFill>
              </a:rPr>
              <a:t>💰 Financial</a:t>
            </a:r>
            <a:endParaRPr lang="en-US" sz="1000" dirty="0"/>
          </a:p>
        </p:txBody>
      </p:sp>
      <p:sp>
        <p:nvSpPr>
          <p:cNvPr id="112" name="Text 110"/>
          <p:cNvSpPr/>
          <p:nvPr/>
        </p:nvSpPr>
        <p:spPr>
          <a:xfrm>
            <a:off x="7406640" y="555040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71B9"/>
                </a:solidFill>
              </a:rPr>
              <a:t>$3–5M</a:t>
            </a:r>
            <a:endParaRPr lang="en-US" sz="2600" dirty="0"/>
          </a:p>
        </p:txBody>
      </p:sp>
      <p:sp>
        <p:nvSpPr>
          <p:cNvPr id="113" name="Text 111"/>
          <p:cNvSpPr/>
          <p:nvPr/>
        </p:nvSpPr>
        <p:spPr>
          <a:xfrm>
            <a:off x="7406640" y="5943600"/>
            <a:ext cx="20848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Annual savings per 500-bed hospital from reduced turnover, overtime, and agency staffing spend.*</a:t>
            </a:r>
            <a:endParaRPr lang="en-US" sz="800" dirty="0"/>
          </a:p>
        </p:txBody>
      </p:sp>
      <p:sp>
        <p:nvSpPr>
          <p:cNvPr id="114" name="Shape 112"/>
          <p:cNvSpPr/>
          <p:nvPr/>
        </p:nvSpPr>
        <p:spPr>
          <a:xfrm>
            <a:off x="9692640" y="5230368"/>
            <a:ext cx="2267712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BBCF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15" name="Shape 113"/>
          <p:cNvSpPr/>
          <p:nvPr/>
        </p:nvSpPr>
        <p:spPr>
          <a:xfrm>
            <a:off x="9692640" y="5230368"/>
            <a:ext cx="2267712" cy="54864"/>
          </a:xfrm>
          <a:prstGeom prst="rect">
            <a:avLst/>
          </a:prstGeom>
          <a:solidFill>
            <a:srgbClr val="1171B9"/>
          </a:solidFill>
          <a:ln w="12700">
            <a:solidFill>
              <a:srgbClr val="1171B9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9784080" y="5321808"/>
            <a:ext cx="2084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558B"/>
                </a:solidFill>
              </a:rPr>
              <a:t>📈 Capacity</a:t>
            </a:r>
            <a:endParaRPr lang="en-US" sz="1000" dirty="0"/>
          </a:p>
        </p:txBody>
      </p:sp>
      <p:sp>
        <p:nvSpPr>
          <p:cNvPr id="117" name="Text 115"/>
          <p:cNvSpPr/>
          <p:nvPr/>
        </p:nvSpPr>
        <p:spPr>
          <a:xfrm>
            <a:off x="9784080" y="555040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71B9"/>
                </a:solidFill>
              </a:rPr>
              <a:t>15%</a:t>
            </a:r>
            <a:endParaRPr lang="en-US" sz="2600" dirty="0"/>
          </a:p>
        </p:txBody>
      </p:sp>
      <p:sp>
        <p:nvSpPr>
          <p:cNvPr id="118" name="Text 116"/>
          <p:cNvSpPr/>
          <p:nvPr/>
        </p:nvSpPr>
        <p:spPr>
          <a:xfrm>
            <a:off x="9784080" y="5943600"/>
            <a:ext cx="20848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Bed utilization gain achieved through data-driven demand-supply planning — no new infrastructure.</a:t>
            </a:r>
            <a:endParaRPr lang="en-US" sz="800" dirty="0"/>
          </a:p>
        </p:txBody>
      </p:sp>
      <p:sp>
        <p:nvSpPr>
          <p:cNvPr id="119" name="Shape 117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0D558B"/>
          </a:solidFill>
          <a:ln w="12700">
            <a:solidFill>
              <a:srgbClr val="0D558B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274320" y="6510528"/>
            <a:ext cx="1161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1ADED"/>
                </a:solidFill>
              </a:rPr>
              <a:t>*Estimates based on NSI Nursing Solutions 2023, AHA 2022, NEJM Catalyst 2023, and Mayo Clinic burnout research. Actual results vary by system size and baseline.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Workforce Enablement Platform</dc:title>
  <dc:subject>PptxGenJS Presentation</dc:subject>
  <dc:creator>PptxGenJS</dc:creator>
  <cp:lastModifiedBy>PptxGenJS</cp:lastModifiedBy>
  <cp:revision>1</cp:revision>
  <dcterms:created xsi:type="dcterms:W3CDTF">2026-04-10T19:13:26Z</dcterms:created>
  <dcterms:modified xsi:type="dcterms:W3CDTF">2026-04-10T19:13:26Z</dcterms:modified>
</cp:coreProperties>
</file>