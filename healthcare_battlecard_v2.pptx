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58B"/>
                </a:solidFill>
              </a:rPr>
              <a:t>SLIDE 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Healthcare Workforce Crisis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1ADED"/>
                </a:solidFill>
              </a:rPr>
              <a:t>Challenge · Solution · Business Impact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3749040" cy="347472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058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51960" y="1005840"/>
            <a:ext cx="3977640" cy="34747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005840"/>
            <a:ext cx="3977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THE AGENTIC SOLUTION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1005840"/>
            <a:ext cx="3429000" cy="347472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0" y="10058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BUSINESS IMPACT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1005840"/>
            <a:ext cx="0" cy="557784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8412480" y="1005840"/>
            <a:ext cx="0" cy="5577840"/>
          </a:xfrm>
          <a:prstGeom prst="line">
            <a:avLst/>
          </a:prstGeom>
          <a:noFill/>
          <a:ln w="12700">
            <a:solidFill>
              <a:srgbClr val="BBCCDD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28600" y="1444752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Hospitals systematically overload staff without coordination or foresight — silently eroding care quality and financial performance.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2057400"/>
            <a:ext cx="37490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" y="2057400"/>
            <a:ext cx="54864" cy="7589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212140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Administrative Overload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74904" y="2359152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Clinicians spend 35–40% of each shift on documentation rather than direct patient care — an estimated 6 hrs/day lost per nurse.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8600" y="2907792"/>
            <a:ext cx="37490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28600" y="2907792"/>
            <a:ext cx="54864" cy="7589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297180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Uneven Workload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74904" y="3209544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No real-time visibility into fatigue or load distribution creates chronic inequity, compounding stress across units.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758184"/>
            <a:ext cx="37490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758184"/>
            <a:ext cx="54864" cy="7589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382219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Reactive Staffing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74904" y="4059936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Gaps are filled after burnout peaks. Agency escalation costs 3–4× base rate with no structural fix in sight.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28600" y="4608576"/>
            <a:ext cx="374904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4608576"/>
            <a:ext cx="54864" cy="75895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467258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558B"/>
                </a:solidFill>
              </a:rPr>
              <a:t>Fragmented Systems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74904" y="4910328"/>
            <a:ext cx="35478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</a:rPr>
              <a:t>EHRs, scheduling tools, and staffing platforms operate in silos — generating data nobody acts on in time.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28600" y="6126480"/>
            <a:ext cx="3749040" cy="4572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20040" y="612648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⚠  54% of clinicians report high burnout risk — costing US health systems $4.6B/yr in turnover (Mayo Clinic, 2023)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51960" y="1444752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An operational intelligence layer that continuously detects burnout, identifies root causes, and executes corrective actions — without manual intervention.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389120" y="2057400"/>
            <a:ext cx="3703320" cy="822960"/>
          </a:xfrm>
          <a:prstGeom prst="rect">
            <a:avLst/>
          </a:prstGeom>
          <a:solidFill>
            <a:srgbClr val="1171B9"/>
          </a:solidFill>
          <a:ln w="25400">
            <a:solidFill>
              <a:srgbClr val="51AD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389120" y="2057400"/>
            <a:ext cx="3703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🏥  AGENTIC WORKFORCE PLATFORM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389120" y="2468880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1ADED"/>
                </a:solidFill>
              </a:rPr>
              <a:t>Detect  →  Diagnose  →  Execute  →  Monitor  →  Learn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251960" y="2999232"/>
            <a:ext cx="3977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51960" y="2999232"/>
            <a:ext cx="3977640" cy="274320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61688" y="3026664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Nurse Agents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361688" y="3300984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Smart Documentation  ·  Shift Handoff  ·  Prior Auth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251960" y="3758184"/>
            <a:ext cx="3977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251960" y="3758184"/>
            <a:ext cx="3977640" cy="274320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61688" y="3785616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Doctor Agents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361688" y="4059936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Assistive Diagnosis  ·  Clinical Referral  ·  Medication Assist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251960" y="4517136"/>
            <a:ext cx="3977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251960" y="4517136"/>
            <a:ext cx="3977640" cy="27432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61688" y="4544568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Staffing Agents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361688" y="4818888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Float Allocation  ·  Surge Resolution  ·  Fatigue Monitor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251960" y="5276088"/>
            <a:ext cx="397764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251960" y="5276088"/>
            <a:ext cx="3977640" cy="274320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61688" y="5303520"/>
            <a:ext cx="3794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Ops Agents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361688" y="5577840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Capacity Optimization  ·  Demand-Supply Planning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4251960" y="61722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1ADED"/>
                </a:solidFill>
              </a:rPr>
              <a:t>Non-disruptive EHR integration — acts as a decision layer on top of existing systems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8503920" y="1444752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66666"/>
                </a:solidFill>
              </a:rPr>
              <a:t>Burnout reduction is not just a workforce initiative — it directly unlocks capacity, efficiency, and financial performance.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503920" y="2057400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503920" y="2057400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631936" y="2112264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30%</a:t>
            </a:r>
            <a:endParaRPr lang="en-US" sz="2200" dirty="0"/>
          </a:p>
        </p:txBody>
      </p:sp>
      <p:sp>
        <p:nvSpPr>
          <p:cNvPr id="60" name="Text 58"/>
          <p:cNvSpPr/>
          <p:nvPr/>
        </p:nvSpPr>
        <p:spPr>
          <a:xfrm>
            <a:off x="9509760" y="2112264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Reduction in Clinician Burnout Scores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9509760" y="2404872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Via workload rebalancing &amp; admin relief (NEJM Catalyst, 2023)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503920" y="2862072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503920" y="2862072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631936" y="2916936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6 hrs</a:t>
            </a:r>
            <a:endParaRPr lang="en-US" sz="2200" dirty="0"/>
          </a:p>
        </p:txBody>
      </p:sp>
      <p:sp>
        <p:nvSpPr>
          <p:cNvPr id="65" name="Text 63"/>
          <p:cNvSpPr/>
          <p:nvPr/>
        </p:nvSpPr>
        <p:spPr>
          <a:xfrm>
            <a:off x="9509760" y="2916936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Saved Per Clinician / Week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9509760" y="3209544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Documentation automation + handoff agents (AHA, 2022)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503920" y="3666744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8503920" y="3666744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631936" y="3721608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20%</a:t>
            </a:r>
            <a:endParaRPr lang="en-US" sz="2200" dirty="0"/>
          </a:p>
        </p:txBody>
      </p:sp>
      <p:sp>
        <p:nvSpPr>
          <p:cNvPr id="70" name="Text 68"/>
          <p:cNvSpPr/>
          <p:nvPr/>
        </p:nvSpPr>
        <p:spPr>
          <a:xfrm>
            <a:off x="9509760" y="372160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Reduction in Staff Turnover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9509760" y="4014216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Saving ~$82K–$88K per nurse replaced (NSI, 2023)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8503920" y="4471416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8503920" y="4471416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631936" y="4526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15%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9509760" y="4526280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Improvement in Bed Utilization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9509760" y="4818888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Via smarter load balancing &amp; capacity planning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503920" y="5276088"/>
            <a:ext cx="34290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8503920" y="5276088"/>
            <a:ext cx="54864" cy="71323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631936" y="5330952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71B9"/>
                </a:solidFill>
              </a:rPr>
              <a:t>25%</a:t>
            </a:r>
            <a:endParaRPr lang="en-US" sz="2200" dirty="0"/>
          </a:p>
        </p:txBody>
      </p:sp>
      <p:sp>
        <p:nvSpPr>
          <p:cNvPr id="80" name="Text 78"/>
          <p:cNvSpPr/>
          <p:nvPr/>
        </p:nvSpPr>
        <p:spPr>
          <a:xfrm>
            <a:off x="9509760" y="533095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Reduction in Overtime &amp; Agency Cost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9509760" y="562356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66"/>
                </a:solidFill>
              </a:rPr>
              <a:t>Proactive float optimization reduces escalation spend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58B"/>
                </a:solidFill>
              </a:rPr>
              <a:t>SLIDE 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Platform Solution Flow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1ADED"/>
                </a:solidFill>
              </a:rPr>
              <a:t>Data Inputs → AI Agents → Persona Outcomes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005840"/>
            <a:ext cx="2560320" cy="34747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0058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DATA INPUTS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17520" y="1005840"/>
            <a:ext cx="2011680" cy="34747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1752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NURSE AGENTS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12080" y="1005840"/>
            <a:ext cx="2011680" cy="347472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DOCTOR AGENTS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06640" y="1005840"/>
            <a:ext cx="2103120" cy="34747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005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STAFFING AGENTS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692640" y="1005840"/>
            <a:ext cx="2240280" cy="347472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92640" y="1005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</a:rPr>
              <a:t>OPS AGENTS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1463040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28600" y="1463040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51790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📂  EHR &amp; Clinical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7472" y="179222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Patient records, diagnoses, medications, lab results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28600" y="2313432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313432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236829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⏱  Shift &amp; Time Logs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7472" y="26426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Clock-ins, break patterns, overtime data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" y="3163824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163824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218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📊  Workload Metrics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7472" y="3493008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Patient load, task queue, assignment logs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28600" y="4014216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28600" y="4014216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4069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🔔  After-Hours Activity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47472" y="43434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Documentation outside shift hours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4864608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4864608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9194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📋  Documentation Volume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47472" y="5193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Charting time, note frequency, complexity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28600" y="5715000"/>
            <a:ext cx="2560320" cy="75895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28600" y="5715000"/>
            <a:ext cx="54864" cy="758952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" y="576986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558B"/>
                </a:solidFill>
              </a:rPr>
              <a:t>🏥  Staffing &amp; Float Data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47472" y="604418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6666"/>
                </a:solidFill>
              </a:rPr>
              <a:t>Availability, certifications, agency usage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017520" y="1463040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017520" y="1463040"/>
            <a:ext cx="2011680" cy="2926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06324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Smart Documentation Agent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063240" y="179222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Auto-generates SOAP notes from patient context, integrating directly with EHR workflows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017520" y="2651760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35808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A8"/>
                </a:solidFill>
              </a:rPr>
              <a:t>✓  ↓ 40% charting time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017520" y="3136392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017520" y="3136392"/>
            <a:ext cx="2011680" cy="2926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6324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Shift Handoff Agent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3063240" y="346557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Creates structured handoff summaries with critical changes &amp; pending tasks highlighted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3017520" y="4325112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35808" y="4325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A8"/>
                </a:solidFill>
              </a:rPr>
              <a:t>✓  ↓ Cognitive load at handoff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017520" y="4809744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017520" y="4809744"/>
            <a:ext cx="2011680" cy="29260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063240" y="4837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Prior Authorization Agent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3063240" y="51389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Auto-creates prior auth requests using patient history, diagnosis &amp; insurance data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3017520" y="5998464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35808" y="59984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6FA8"/>
                </a:solidFill>
              </a:rPr>
              <a:t>✓  ↓ 80% admin effort on auth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212080" y="1463040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212080" y="1463040"/>
            <a:ext cx="2011680" cy="29260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7800" y="149047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Assistive Diagnosis Agent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5257800" y="1792224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Surfaces relevant clinical insights from patient data for faster, more confident decisions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212080" y="2651760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230368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1B9"/>
                </a:solidFill>
              </a:rPr>
              <a:t>✓  20% faster decisions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212080" y="3136392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5212080" y="3136392"/>
            <a:ext cx="2011680" cy="29260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57800" y="3163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Clinical Referral Agent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5257800" y="3465576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Recommends next steps and specialist referrals, reducing coordination overhead for physicians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212080" y="4325112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30368" y="432511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1B9"/>
                </a:solidFill>
              </a:rPr>
              <a:t>✓  ↓ Coordination burden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5212080" y="4809744"/>
            <a:ext cx="20116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3" name="Shape 71"/>
          <p:cNvSpPr/>
          <p:nvPr/>
        </p:nvSpPr>
        <p:spPr>
          <a:xfrm>
            <a:off x="5212080" y="4809744"/>
            <a:ext cx="2011680" cy="29260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257800" y="483717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Medication Assist Agent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5257800" y="5138928"/>
            <a:ext cx="1920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Supports prescribing decisions, flags potential interactions and optimization opportunities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5212080" y="5998464"/>
            <a:ext cx="20116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30368" y="5998464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71B9"/>
                </a:solidFill>
              </a:rPr>
              <a:t>✓  ↓ Prescribing errors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7406640" y="1463040"/>
            <a:ext cx="21031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7406640" y="1463040"/>
            <a:ext cx="21031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452360" y="1490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Smart Float Allocation Agent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7452360" y="1792224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Assigns staff based on skill match, fatigue level, fairness score, and availability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406640" y="2651760"/>
            <a:ext cx="210312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24928" y="265176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558B"/>
                </a:solidFill>
              </a:rPr>
              <a:t>✓  50% faster gap resolution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7406640" y="3136392"/>
            <a:ext cx="21031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7406640" y="3136392"/>
            <a:ext cx="21031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52360" y="31638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Surge Resolution Agent</a:t>
            </a:r>
            <a:endParaRPr lang="en-US" sz="850" dirty="0"/>
          </a:p>
        </p:txBody>
      </p:sp>
      <p:sp>
        <p:nvSpPr>
          <p:cNvPr id="87" name="Text 85"/>
          <p:cNvSpPr/>
          <p:nvPr/>
        </p:nvSpPr>
        <p:spPr>
          <a:xfrm>
            <a:off x="7452360" y="3465576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Detects burnout-threshold breaches; recommends redistribution or backup staff activation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7406640" y="4325112"/>
            <a:ext cx="210312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424928" y="432511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558B"/>
                </a:solidFill>
              </a:rPr>
              <a:t>✓  ↓ 25% overtime usage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7406640" y="4809744"/>
            <a:ext cx="21031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1" name="Shape 89"/>
          <p:cNvSpPr/>
          <p:nvPr/>
        </p:nvSpPr>
        <p:spPr>
          <a:xfrm>
            <a:off x="7406640" y="4809744"/>
            <a:ext cx="21031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452360" y="48371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Fatigue Monitoring Agent</a:t>
            </a:r>
            <a:endParaRPr lang="en-US" sz="850" dirty="0"/>
          </a:p>
        </p:txBody>
      </p:sp>
      <p:sp>
        <p:nvSpPr>
          <p:cNvPr id="93" name="Text 91"/>
          <p:cNvSpPr/>
          <p:nvPr/>
        </p:nvSpPr>
        <p:spPr>
          <a:xfrm>
            <a:off x="7452360" y="5138928"/>
            <a:ext cx="2011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Tracks persistent burnout trends and flags at-risk staff before breach — not after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406640" y="5998464"/>
            <a:ext cx="210312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424928" y="59984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558B"/>
                </a:solidFill>
              </a:rPr>
              <a:t>✓  Proactive intervention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9692640" y="1463040"/>
            <a:ext cx="2240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7" name="Shape 95"/>
          <p:cNvSpPr/>
          <p:nvPr/>
        </p:nvSpPr>
        <p:spPr>
          <a:xfrm>
            <a:off x="9692640" y="1463040"/>
            <a:ext cx="2240280" cy="29260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9738360" y="14904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Capacity Optimization Agent</a:t>
            </a:r>
            <a:endParaRPr lang="en-US" sz="850" dirty="0"/>
          </a:p>
        </p:txBody>
      </p:sp>
      <p:sp>
        <p:nvSpPr>
          <p:cNvPr id="99" name="Text 97"/>
          <p:cNvSpPr/>
          <p:nvPr/>
        </p:nvSpPr>
        <p:spPr>
          <a:xfrm>
            <a:off x="9738360" y="1792224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Identifies staff-driven bottlenecks; recommends patient movement and load balancing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9692640" y="2651760"/>
            <a:ext cx="22402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9710928" y="26517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F6A"/>
                </a:solidFill>
              </a:rPr>
              <a:t>✓  ↓ ED boarding by 18%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9692640" y="3136392"/>
            <a:ext cx="2240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3" name="Shape 101"/>
          <p:cNvSpPr/>
          <p:nvPr/>
        </p:nvSpPr>
        <p:spPr>
          <a:xfrm>
            <a:off x="9692640" y="3136392"/>
            <a:ext cx="2240280" cy="29260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9738360" y="3163824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Demand-Supply Planning Agent</a:t>
            </a:r>
            <a:endParaRPr lang="en-US" sz="850" dirty="0"/>
          </a:p>
        </p:txBody>
      </p:sp>
      <p:sp>
        <p:nvSpPr>
          <p:cNvPr id="105" name="Text 103"/>
          <p:cNvSpPr/>
          <p:nvPr/>
        </p:nvSpPr>
        <p:spPr>
          <a:xfrm>
            <a:off x="9738360" y="3465576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Detects recurring burnout patterns; generates hiring plans and capacity adjustments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9692640" y="4325112"/>
            <a:ext cx="22402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9710928" y="4325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F6A"/>
                </a:solidFill>
              </a:rPr>
              <a:t>✓  15% bed utilization gain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9692640" y="4809744"/>
            <a:ext cx="224028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9692640" y="4809744"/>
            <a:ext cx="2240280" cy="29260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738360" y="48371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Performance Analytics Agent</a:t>
            </a:r>
            <a:endParaRPr lang="en-US" sz="850" dirty="0"/>
          </a:p>
        </p:txBody>
      </p:sp>
      <p:sp>
        <p:nvSpPr>
          <p:cNvPr id="111" name="Text 109"/>
          <p:cNvSpPr/>
          <p:nvPr/>
        </p:nvSpPr>
        <p:spPr>
          <a:xfrm>
            <a:off x="9738360" y="5138928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4444"/>
                </a:solidFill>
              </a:rPr>
              <a:t>Closes the loop with outcome tracking, trend learning, and system improvement reports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9692640" y="5998464"/>
            <a:ext cx="2240280" cy="347472"/>
          </a:xfrm>
          <a:prstGeom prst="rect">
            <a:avLst/>
          </a:prstGeom>
          <a:solidFill>
            <a:srgbClr val="E8F4FF"/>
          </a:solidFill>
          <a:ln w="12700">
            <a:solidFill>
              <a:srgbClr val="BBCFE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9710928" y="599846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A3F6A"/>
                </a:solidFill>
              </a:rPr>
              <a:t>✓  Continuous improvement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0" y="6565392"/>
            <a:ext cx="1216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51ADED"/>
                </a:solidFill>
              </a:rPr>
              <a:t>Closed-Loop Intelligence: Detect → Diagnose → Decide → Execute → Monitor → Learn → Improve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64008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2860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558B"/>
                </a:solidFill>
              </a:rPr>
              <a:t>SLIDE 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011680" y="1371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Persona Benefits &amp; Strategic Impact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961120" y="228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1ADED"/>
                </a:solidFill>
              </a:rPr>
              <a:t>How it makes every stakeholder's life better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82880" y="1005840"/>
            <a:ext cx="2880360" cy="566928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👩‍⚕️  NURSE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6FA8"/>
                </a:solidFill>
              </a:rPr>
              <a:t>PAIN TODAY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Drowning in documentation &amp; admin tasks during every shift — less than 40% of time on direct care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A6FA8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92608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2608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SOAP notes auto-generated from patient context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2608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Shift handoffs completed in minutes, not 30+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92608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Prior authorizations handled without manual effort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92608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0624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Workload visible and distributed fairly across unit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182880" y="3840480"/>
            <a:ext cx="2880360" cy="530352"/>
          </a:xfrm>
          <a:prstGeom prst="rect">
            <a:avLst/>
          </a:prstGeom>
          <a:solidFill>
            <a:srgbClr val="1A6FA8"/>
          </a:solidFill>
          <a:ln w="12700">
            <a:solidFill>
              <a:srgbClr val="1A6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40% less charting</a:t>
            </a:r>
            <a:endParaRPr lang="en-US" sz="780" dirty="0"/>
          </a:p>
        </p:txBody>
      </p:sp>
      <p:sp>
        <p:nvSpPr>
          <p:cNvPr id="26" name="Text 24"/>
          <p:cNvSpPr/>
          <p:nvPr/>
        </p:nvSpPr>
        <p:spPr>
          <a:xfrm>
            <a:off x="1197864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6 hrs saved/week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2157984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↓ 30% after-hours work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74320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A6FA8"/>
                </a:solidFill>
              </a:rPr>
              <a:t>❝  More time at the bedside, less time at the screen.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3172968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1005840"/>
            <a:ext cx="2880360" cy="566928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82696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👨‍⚕️  PHYSICIAN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82696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171B9"/>
                </a:solidFill>
              </a:rPr>
              <a:t>PAIN TODAY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282696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82696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High cognitive load from fragmented workflows — up to 2 hrs/day on non-clinical tasks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282696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1171B9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282696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282696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0712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Clinical insights surfaced at the point of care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82696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10712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Specialist referrals recommended automatically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82696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10712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Medication decisions supported and flagged in real time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282696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10712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Time recovered from coordination and admin tasks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172968" y="3840480"/>
            <a:ext cx="2880360" cy="530352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27832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20% faster decisions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4187952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↓ 35% admin burden</a:t>
            </a:r>
            <a:endParaRPr lang="en-US" sz="780" dirty="0"/>
          </a:p>
        </p:txBody>
      </p:sp>
      <p:sp>
        <p:nvSpPr>
          <p:cNvPr id="48" name="Text 46"/>
          <p:cNvSpPr/>
          <p:nvPr/>
        </p:nvSpPr>
        <p:spPr>
          <a:xfrm>
            <a:off x="5148072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 hrs reclaimed/day</a:t>
            </a:r>
            <a:endParaRPr lang="en-US" sz="780" dirty="0"/>
          </a:p>
        </p:txBody>
      </p:sp>
      <p:sp>
        <p:nvSpPr>
          <p:cNvPr id="49" name="Text 47"/>
          <p:cNvSpPr/>
          <p:nvPr/>
        </p:nvSpPr>
        <p:spPr>
          <a:xfrm>
            <a:off x="3264408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171B9"/>
                </a:solidFill>
              </a:rPr>
              <a:t>❝  Decisions made with confidence, not cognitive overload.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163056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163056" y="1005840"/>
            <a:ext cx="2880360" cy="566928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72784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STAFFING DIRECTOR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6272784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558B"/>
                </a:solidFill>
              </a:rPr>
              <a:t>PAIN TODAY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6272784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2784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Reacting to staffing gaps with no early warning — agency escalations cost 3–4× base rate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6272784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D558B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272784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Real-time burnout scores per staff member &amp; unit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72784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Float assignments driven by fatigue, skills &amp; fairness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72784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400800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Surge alerts triggered before thresholds are breached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72784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0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Structured recommendations — not reactive fire-fighting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163056" y="3840480"/>
            <a:ext cx="2880360" cy="530352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50% faster gap response</a:t>
            </a:r>
            <a:endParaRPr lang="en-US" sz="780" dirty="0"/>
          </a:p>
        </p:txBody>
      </p:sp>
      <p:sp>
        <p:nvSpPr>
          <p:cNvPr id="68" name="Text 66"/>
          <p:cNvSpPr/>
          <p:nvPr/>
        </p:nvSpPr>
        <p:spPr>
          <a:xfrm>
            <a:off x="7178040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25% overtime reduction</a:t>
            </a:r>
            <a:endParaRPr lang="en-US" sz="780" dirty="0"/>
          </a:p>
        </p:txBody>
      </p:sp>
      <p:sp>
        <p:nvSpPr>
          <p:cNvPr id="69" name="Text 67"/>
          <p:cNvSpPr/>
          <p:nvPr/>
        </p:nvSpPr>
        <p:spPr>
          <a:xfrm>
            <a:off x="8138160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↑ Workforce utilization</a:t>
            </a:r>
            <a:endParaRPr lang="en-US" sz="780" dirty="0"/>
          </a:p>
        </p:txBody>
      </p:sp>
      <p:sp>
        <p:nvSpPr>
          <p:cNvPr id="70" name="Text 68"/>
          <p:cNvSpPr/>
          <p:nvPr/>
        </p:nvSpPr>
        <p:spPr>
          <a:xfrm>
            <a:off x="6254496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D558B"/>
                </a:solidFill>
              </a:rPr>
              <a:t>❝  From reactive chaos to proactive control.</a:t>
            </a:r>
            <a:endParaRPr lang="en-US" sz="750" dirty="0"/>
          </a:p>
        </p:txBody>
      </p:sp>
      <p:sp>
        <p:nvSpPr>
          <p:cNvPr id="71" name="Shape 69"/>
          <p:cNvSpPr/>
          <p:nvPr/>
        </p:nvSpPr>
        <p:spPr>
          <a:xfrm>
            <a:off x="9153144" y="1005840"/>
            <a:ext cx="28803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9153144" y="1005840"/>
            <a:ext cx="2880360" cy="566928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262872" y="1060704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  OPERATIONS HEAD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9262872" y="164592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A3F6A"/>
                </a:solidFill>
              </a:rPr>
              <a:t>PAIN TODAY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9262872" y="183794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262872" y="1865376"/>
            <a:ext cx="2660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66666"/>
                </a:solidFill>
              </a:rPr>
              <a:t>Downstream delays with no root-cause visibility — burnout-driven bottlenecks invisible until it's too late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9262872" y="237744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0A3F6A"/>
                </a:solidFill>
              </a:rPr>
              <a:t>HOW WE HELP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262872" y="2569464"/>
            <a:ext cx="2624328" cy="0"/>
          </a:xfrm>
          <a:prstGeom prst="line">
            <a:avLst/>
          </a:prstGeom>
          <a:noFill/>
          <a:ln w="10160">
            <a:solidFill>
              <a:srgbClr val="BBCFE8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262872" y="2670048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390888" y="2615184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Burnout correlated to operational performance data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262872" y="2953512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90888" y="2898648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Bottlenecks identified and load-balanced automatically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262872" y="3236976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390888" y="3182112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Hiring and capacity plans generated from trend data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9262872" y="3520440"/>
            <a:ext cx="91440" cy="91440"/>
          </a:xfrm>
          <a:prstGeom prst="ellipse">
            <a:avLst/>
          </a:prstGeom>
          <a:solidFill>
            <a:srgbClr val="51ADED"/>
          </a:solidFill>
          <a:ln w="12700">
            <a:solidFill>
              <a:srgbClr val="51ADE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9390888" y="3465576"/>
            <a:ext cx="2551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</a:rPr>
              <a:t>System-wide gains without adding headcount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9153144" y="3840480"/>
            <a:ext cx="2880360" cy="530352"/>
          </a:xfrm>
          <a:prstGeom prst="rect">
            <a:avLst/>
          </a:prstGeom>
          <a:solidFill>
            <a:srgbClr val="0A3F6A"/>
          </a:solidFill>
          <a:ln w="12700">
            <a:solidFill>
              <a:srgbClr val="0A3F6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9208008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15% bed utilization gain</a:t>
            </a:r>
            <a:endParaRPr lang="en-US" sz="780" dirty="0"/>
          </a:p>
        </p:txBody>
      </p:sp>
      <p:sp>
        <p:nvSpPr>
          <p:cNvPr id="89" name="Text 87"/>
          <p:cNvSpPr/>
          <p:nvPr/>
        </p:nvSpPr>
        <p:spPr>
          <a:xfrm>
            <a:off x="10168128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$3–5M annual savings*</a:t>
            </a:r>
            <a:endParaRPr lang="en-US" sz="780" dirty="0"/>
          </a:p>
        </p:txBody>
      </p:sp>
      <p:sp>
        <p:nvSpPr>
          <p:cNvPr id="90" name="Text 88"/>
          <p:cNvSpPr/>
          <p:nvPr/>
        </p:nvSpPr>
        <p:spPr>
          <a:xfrm>
            <a:off x="11128248" y="3895344"/>
            <a:ext cx="905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↓ 18% ED boarding</a:t>
            </a:r>
            <a:endParaRPr lang="en-US" sz="780" dirty="0"/>
          </a:p>
        </p:txBody>
      </p:sp>
      <p:sp>
        <p:nvSpPr>
          <p:cNvPr id="91" name="Text 89"/>
          <p:cNvSpPr/>
          <p:nvPr/>
        </p:nvSpPr>
        <p:spPr>
          <a:xfrm>
            <a:off x="9244584" y="4434840"/>
            <a:ext cx="2715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0A3F6A"/>
                </a:solidFill>
              </a:rPr>
              <a:t>❝  Operational insight that drives decisions, not just reports.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182880" y="4864608"/>
            <a:ext cx="11795760" cy="329184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82880" y="4864608"/>
            <a:ext cx="11795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</a:rPr>
              <a:t>OVERALL STRATEGIC IMPACT</a:t>
            </a:r>
            <a:endParaRPr lang="en-US" sz="1100" dirty="0"/>
          </a:p>
        </p:txBody>
      </p:sp>
      <p:sp>
        <p:nvSpPr>
          <p:cNvPr id="94" name="Shape 92"/>
          <p:cNvSpPr/>
          <p:nvPr/>
        </p:nvSpPr>
        <p:spPr>
          <a:xfrm>
            <a:off x="18288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95" name="Shape 93"/>
          <p:cNvSpPr/>
          <p:nvPr/>
        </p:nvSpPr>
        <p:spPr>
          <a:xfrm>
            <a:off x="18288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👥 Workforce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27432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20%</a:t>
            </a:r>
            <a:endParaRPr lang="en-US" sz="2600" dirty="0"/>
          </a:p>
        </p:txBody>
      </p:sp>
      <p:sp>
        <p:nvSpPr>
          <p:cNvPr id="98" name="Text 96"/>
          <p:cNvSpPr/>
          <p:nvPr/>
        </p:nvSpPr>
        <p:spPr>
          <a:xfrm>
            <a:off x="27432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Staff retention improvement. Replacing one nurse costs $82–88K — proactive burnout prevention changes the math.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256032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256032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265176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🏥 Clinical Quality</a:t>
            </a:r>
            <a:endParaRPr lang="en-US" sz="1000" dirty="0"/>
          </a:p>
        </p:txBody>
      </p:sp>
      <p:sp>
        <p:nvSpPr>
          <p:cNvPr id="102" name="Text 100"/>
          <p:cNvSpPr/>
          <p:nvPr/>
        </p:nvSpPr>
        <p:spPr>
          <a:xfrm>
            <a:off x="265176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40%</a:t>
            </a:r>
            <a:endParaRPr lang="en-US" sz="2600" dirty="0"/>
          </a:p>
        </p:txBody>
      </p:sp>
      <p:sp>
        <p:nvSpPr>
          <p:cNvPr id="103" name="Text 101"/>
          <p:cNvSpPr/>
          <p:nvPr/>
        </p:nvSpPr>
        <p:spPr>
          <a:xfrm>
            <a:off x="265176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Reduction in time spent on admin tasks, returning clinicians to direct patient care.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493776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05" name="Shape 103"/>
          <p:cNvSpPr/>
          <p:nvPr/>
        </p:nvSpPr>
        <p:spPr>
          <a:xfrm>
            <a:off x="493776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02920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⚡ Operational</a:t>
            </a:r>
            <a:endParaRPr lang="en-US" sz="1000" dirty="0"/>
          </a:p>
        </p:txBody>
      </p:sp>
      <p:sp>
        <p:nvSpPr>
          <p:cNvPr id="107" name="Text 105"/>
          <p:cNvSpPr/>
          <p:nvPr/>
        </p:nvSpPr>
        <p:spPr>
          <a:xfrm>
            <a:off x="502920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18%</a:t>
            </a:r>
            <a:endParaRPr lang="en-US" sz="2600" dirty="0"/>
          </a:p>
        </p:txBody>
      </p:sp>
      <p:sp>
        <p:nvSpPr>
          <p:cNvPr id="108" name="Text 106"/>
          <p:cNvSpPr/>
          <p:nvPr/>
        </p:nvSpPr>
        <p:spPr>
          <a:xfrm>
            <a:off x="502920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Reduction in ED boarding time through real-time capacity rebalancing and load-aware staffing.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731520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0" name="Shape 108"/>
          <p:cNvSpPr/>
          <p:nvPr/>
        </p:nvSpPr>
        <p:spPr>
          <a:xfrm>
            <a:off x="731520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40664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💰 Financial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740664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$3–5M</a:t>
            </a:r>
            <a:endParaRPr lang="en-US" sz="2600" dirty="0"/>
          </a:p>
        </p:txBody>
      </p:sp>
      <p:sp>
        <p:nvSpPr>
          <p:cNvPr id="113" name="Text 111"/>
          <p:cNvSpPr/>
          <p:nvPr/>
        </p:nvSpPr>
        <p:spPr>
          <a:xfrm>
            <a:off x="740664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Annual savings per 500-bed hospital from reduced turnover, overtime, and agency staffing spend.*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9692640" y="5230368"/>
            <a:ext cx="2267712" cy="1353312"/>
          </a:xfrm>
          <a:prstGeom prst="rect">
            <a:avLst/>
          </a:prstGeom>
          <a:solidFill>
            <a:srgbClr val="FFFFFF"/>
          </a:solidFill>
          <a:ln w="12700">
            <a:solidFill>
              <a:srgbClr val="BBCFE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8000"/>
              </a:srgbClr>
            </a:outerShdw>
          </a:effectLst>
        </p:spPr>
      </p:sp>
      <p:sp>
        <p:nvSpPr>
          <p:cNvPr id="115" name="Shape 113"/>
          <p:cNvSpPr/>
          <p:nvPr/>
        </p:nvSpPr>
        <p:spPr>
          <a:xfrm>
            <a:off x="9692640" y="5230368"/>
            <a:ext cx="2267712" cy="54864"/>
          </a:xfrm>
          <a:prstGeom prst="rect">
            <a:avLst/>
          </a:prstGeom>
          <a:solidFill>
            <a:srgbClr val="1171B9"/>
          </a:solidFill>
          <a:ln w="12700">
            <a:solidFill>
              <a:srgbClr val="1171B9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784080" y="5321808"/>
            <a:ext cx="2084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558B"/>
                </a:solidFill>
              </a:rPr>
              <a:t>📈 Capacity</a:t>
            </a:r>
            <a:endParaRPr lang="en-US" sz="1000" dirty="0"/>
          </a:p>
        </p:txBody>
      </p:sp>
      <p:sp>
        <p:nvSpPr>
          <p:cNvPr id="117" name="Text 115"/>
          <p:cNvSpPr/>
          <p:nvPr/>
        </p:nvSpPr>
        <p:spPr>
          <a:xfrm>
            <a:off x="9784080" y="55504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71B9"/>
                </a:solidFill>
              </a:rPr>
              <a:t>15%</a:t>
            </a:r>
            <a:endParaRPr lang="en-US" sz="2600" dirty="0"/>
          </a:p>
        </p:txBody>
      </p:sp>
      <p:sp>
        <p:nvSpPr>
          <p:cNvPr id="118" name="Text 116"/>
          <p:cNvSpPr/>
          <p:nvPr/>
        </p:nvSpPr>
        <p:spPr>
          <a:xfrm>
            <a:off x="9784080" y="5943600"/>
            <a:ext cx="2084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6666"/>
                </a:solidFill>
              </a:rPr>
              <a:t>Bed utilization gain achieved through data-driven demand-supply planning — no new infrastructure.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0D558B"/>
          </a:solidFill>
          <a:ln w="12700">
            <a:solidFill>
              <a:srgbClr val="0D558B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74320" y="6510528"/>
            <a:ext cx="1161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1ADED"/>
                </a:solidFill>
              </a:rPr>
              <a:t>*Estimates based on NSI Nursing Solutions 2023, AHA 2022, NEJM Catalyst 2023, and Mayo Clinic burnout research. Actual results vary by system size and baseline.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Workforce Enablement Platform</dc:title>
  <dc:subject>PptxGenJS Presentation</dc:subject>
  <dc:creator>PptxGenJS</dc:creator>
  <cp:lastModifiedBy>PptxGenJS</cp:lastModifiedBy>
  <cp:revision>1</cp:revision>
  <dcterms:created xsi:type="dcterms:W3CDTF">2026-04-10T19:06:22Z</dcterms:created>
  <dcterms:modified xsi:type="dcterms:W3CDTF">2026-04-10T19:06:22Z</dcterms:modified>
</cp:coreProperties>
</file>